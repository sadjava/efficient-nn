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20"/>
    <p:sldId id="262" r:id="rId8"/>
    <p:sldId id="270" r:id="rId21"/>
    <p:sldId id="272" r:id="rId23"/>
    <p:sldId id="271" r:id="rId22"/>
    <p:sldId id="273" r:id="rId24"/>
    <p:sldId id="263" r:id="rId9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67" r:id="rId13"/>
    <p:sldId id="268" r:id="rId14"/>
    <p:sldId id="281" r:id="rId32"/>
    <p:sldId id="264" r:id="rId10"/>
    <p:sldId id="282" r:id="rId33"/>
    <p:sldId id="283" r:id="rId34"/>
    <p:sldId id="265" r:id="rId11"/>
    <p:sldId id="284" r:id="rId35"/>
    <p:sldId id="285" r:id="rId36"/>
    <p:sldId id="266" r:id="rId12"/>
    <p:sldId id="286" r:id="rId37"/>
    <p:sldId id="287" r:id="rId38"/>
    <p:sldId id="288" r:id="rId39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Коротко: статья про то, как заставить GPU считать RNN параллельно. Дальше: проблема, идея, три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боль RNN: последовательность. GPU любит параллельную работу, а тут на каждом шаге один небольшой вектор.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Mamba параллельна, потому что линейна. Нелинейность считалась ценой, которую нужно заплатить за скорость.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Склеивание возможно потому, что композиция линейных шагов снова линейный шаг (ассоциативность).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Вся последовательность из L шагов — это L уравнений h_t = f(h_{t−1}, x_t) на L неизвестных. Их не обязательно решать по порядку.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Черновик f(0, x_t) тоже считается параллельно. После трёх исправлений состояния совпадают с обычным циклом.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Mamba линейность — сама модель. Здесь линейность живёт внутри одной итерации, а после трёх итераций получается исходная нелинейная ячейка.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Ноль не ожидается: ошибка копится вдоль последовательности порядка машинного эпсилона.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Честно: 760× — наш замер, не число из статьи.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Mamba мы не ставили; линейная RNN того же размера показывает то же ограничение.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Явно разделить: что проверили мы, что взято из статьи.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618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ICLR 2026 · Apple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84120"/>
            <a:ext cx="10883392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ParaRNN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812800" y="3792220"/>
            <a:ext cx="1088339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посчитать нелинейную RNN сразу на всю последовательность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5440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9B1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Danieli et al., 2025 · воспроизведение на RTX 3060 Laptop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RNN читает строго слева направо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40"/>
            <a:ext cx="1088339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человек с книгой: чтобы понять страницу 2, нужно помнить страницу 1.</a:t>
            </a:r>
            <a:endParaRPr lang="en-US" sz="1900" dirty="0"/>
          </a:p>
        </p:txBody>
      </p:sp>
      <p:pic>
        <p:nvPicPr>
          <p:cNvPr id="4" name="Image 0" descr="Цепочка h0 → h4">    </p:cNvPr>
          <p:cNvPicPr>
            <a:picLocks noChangeAspect="1"/>
          </p:cNvPicPr>
          <p:nvPr/>
        </p:nvPicPr>
        <p:blipFill>
          <a:blip r:embed="rId1"/>
          <a:srcRect l="0" r="0" t="-14" b="-14"/>
          <a:stretch/>
        </p:blipFill>
        <p:spPr>
          <a:xfrm>
            <a:off x="812800" y="2308860"/>
            <a:ext cx="10566400" cy="146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12496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 шаг 1 не посчитан, шаг 2 не начнётся. На тексте в тысячи слов это тысячи шагов подряд, а GPU, который умеет считать много сразу, почти простаивает.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Из-за этого RNN уступили место другим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39"/>
            <a:ext cx="5156200" cy="1762760"/>
          </a:xfrm>
          <a:prstGeom prst="roundRect">
            <a:avLst>
              <a:gd name="adj" fmla="val 7205"/>
            </a:avLst>
          </a:prstGeom>
          <a:solidFill>
            <a:srgbClr val="ECE7DD"/>
          </a:solidFill>
          <a:ln/>
        </p:spPr>
      </p:sp>
      <p:sp>
        <p:nvSpPr>
          <p:cNvPr id="4" name="Text 2"/>
          <p:cNvSpPr/>
          <p:nvPr/>
        </p:nvSpPr>
        <p:spPr>
          <a:xfrm>
            <a:off x="1092200" y="1894839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Трансформер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92200" y="2298700"/>
            <a:ext cx="47353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Считает всё сразу, поэтому быстро учится. Но на длинном тексте каждый новый токен смотрит на все прошлые, и это дорожает.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23000" y="1615439"/>
            <a:ext cx="5156200" cy="1762760"/>
          </a:xfrm>
          <a:prstGeom prst="roundRect">
            <a:avLst>
              <a:gd name="adj" fmla="val 7205"/>
            </a:avLst>
          </a:prstGeom>
          <a:solidFill>
            <a:srgbClr val="ECE7DD"/>
          </a:solidFill>
          <a:ln/>
        </p:spPr>
      </p:sp>
      <p:sp>
        <p:nvSpPr>
          <p:cNvPr id="7" name="Text 5"/>
          <p:cNvSpPr/>
          <p:nvPr/>
        </p:nvSpPr>
        <p:spPr>
          <a:xfrm>
            <a:off x="6502400" y="1894839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Mamba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02400" y="2298700"/>
            <a:ext cx="47353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sz="1500" b="0">
                <a:solidFill>
                  <a:srgbClr val="1F2A33"/>
                </a:solidFill>
                <a:latin typeface="Inter"/>
              </a:rPr>
              <a:t>Вернула рекуррентность, но линейную:
</a:t>
            </a:r>
            <a:r>
              <a:rPr sz="1500" b="0">
                <a:solidFill>
                  <a:srgbClr val="1F2A33"/>
                </a:solidFill>
                <a:latin typeface="Inter"/>
              </a:rPr>
              <a:t>h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t</a:t>
            </a:r>
            <a:r>
              <a:rPr sz="1500" b="0">
                <a:solidFill>
                  <a:srgbClr val="1F2A33"/>
                </a:solidFill>
                <a:latin typeface="Inter"/>
              </a:rPr>
              <a:t> = a·</a:t>
            </a:r>
            <a:r>
              <a:rPr sz="1500" b="0">
                <a:solidFill>
                  <a:srgbClr val="1F2A33"/>
                </a:solidFill>
                <a:latin typeface="Inter"/>
              </a:rPr>
              <a:t>h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500" b="0">
                <a:solidFill>
                  <a:srgbClr val="1F2A33"/>
                </a:solidFill>
                <a:latin typeface="Inter"/>
              </a:rPr>
              <a:t> + b.
</a:t>
            </a:r>
            <a:r>
              <a:rPr sz="1500" b="0">
                <a:solidFill>
                  <a:srgbClr val="1F2A33"/>
                </a:solidFill>
                <a:latin typeface="Inter"/>
              </a:rPr>
              <a:t>Такие шаги можно склеивать парами.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73380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 статьи: можно ли так же распараллелить нелинейную RNN?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Трюк Mamba: дерево вместо цепочки</a:t>
            </a:r>
            <a:endParaRPr lang="en-US" sz="3200" dirty="0"/>
          </a:p>
        </p:txBody>
      </p:sp>
      <p:pic>
        <p:nvPicPr>
          <p:cNvPr id="3" name="Image 0" descr="Дерево слияния четырёх шагов">    </p:cNvPr>
          <p:cNvPicPr>
            <a:picLocks noChangeAspect="1"/>
          </p:cNvPicPr>
          <p:nvPr/>
        </p:nvPicPr>
        <p:blipFill>
          <a:blip r:embed="rId1"/>
          <a:srcRect l="0" r="0" t="-22" b="-22"/>
          <a:stretch/>
        </p:blipFill>
        <p:spPr>
          <a:xfrm>
            <a:off x="812800" y="1615439"/>
            <a:ext cx="10566400" cy="273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701539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Соседние линейные шаги склеиваются в один, не дожидаясь начала текста. 4 шага — 2 уровня. 4096 шагов — 12 уровней вместо 4096.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6720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Главная идея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89504"/>
            <a:ext cx="10883392" cy="1865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решать шаги по очереди.</a:t>
            </a:r>
            <a:endParaRPr lang="en-US" sz="42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2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Угадать все сразу и исправить все сразу.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4585336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A9B1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метод Ньютона, применённый ко всей последовательности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Угадай и исправь</a:t>
            </a:r>
            <a:endParaRPr lang="en-US" sz="3200" dirty="0"/>
          </a:p>
        </p:txBody>
      </p:sp>
      <p:pic>
        <p:nvPicPr>
          <p:cNvPr id="3" name="Image 0" descr="Цикл: черновик, поправки, исправление">    </p:cNvPr>
          <p:cNvPicPr>
            <a:picLocks noChangeAspect="1"/>
          </p:cNvPicPr>
          <p:nvPr/>
        </p:nvPicPr>
        <p:blipFill>
          <a:blip r:embed="rId1"/>
          <a:srcRect l="0" r="0" t="-31" b="-31"/>
          <a:stretch/>
        </p:blipFill>
        <p:spPr>
          <a:xfrm>
            <a:off x="812800" y="1615439"/>
            <a:ext cx="10566400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3876039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Черновик простой: каждый шаг считают так, будто прошлого нет. Как с эссе: сначала набросать целиком, потом править везде сразу.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1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69"/>
              </a:lnSpc>
              <a:buNone/>
            </a:pPr>
            <a:r>
              <a:rPr lang="en-US" sz="279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поправка — линейная задача</a:t>
            </a:r>
            <a:endParaRPr lang="en-US" sz="2790" dirty="0"/>
          </a:p>
        </p:txBody>
      </p:sp>
      <p:sp>
        <p:nvSpPr>
          <p:cNvPr id="3" name="Text 1"/>
          <p:cNvSpPr/>
          <p:nvPr/>
        </p:nvSpPr>
        <p:spPr>
          <a:xfrm>
            <a:off x="812800" y="1554904"/>
            <a:ext cx="10883392" cy="57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1"/>
              </a:lnSpc>
              <a:buNone/>
            </a:pPr>
            <a:r>
              <a:rPr lang="en-US" sz="1558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Вблизи черновика нелинейную ячейку заменяют касательной. Тогда поправка шага t зависит только от поправки шага prev:</a:t>
            </a:r>
            <a:endParaRPr lang="en-US" sz="1558" dirty="0"/>
          </a:p>
        </p:txBody>
      </p:sp>
      <p:sp>
        <p:nvSpPr>
          <p:cNvPr id="4" name="Text 2"/>
          <p:cNvSpPr/>
          <p:nvPr/>
        </p:nvSpPr>
        <p:spPr>
          <a:xfrm>
            <a:off x="812800" y="2463905"/>
            <a:ext cx="10566400" cy="1112203"/>
          </a:xfrm>
          <a:prstGeom prst="roundRect">
            <a:avLst>
              <a:gd name="adj" fmla="val 11419"/>
            </a:avLst>
          </a:prstGeom>
          <a:solidFill>
            <a:srgbClr val="ECE7DD"/>
          </a:solidFill>
          <a:ln/>
        </p:spPr>
        <p:txBody>
          <a:bodyPr wrap="square" lIns="92089" tIns="242203" rIns="92089" bIns="216803" rtlCol="0" anchor="t">
            <a:normAutofit/>
          </a:bodyPr>
          <a:lstStyle/>
          <a:p>
            <a:pPr algn="ctr" indent="0" marL="0">
              <a:lnSpc>
                <a:spcPts val="4363"/>
              </a:lnSpc>
              <a:buNone/>
            </a:pPr>
            <a:r>
              <a:rPr sz="3100" b="1">
                <a:solidFill>
                  <a:srgbClr val="D2622A"/>
                </a:solidFill>
                <a:latin typeface="Inter"/>
              </a:rPr>
              <a:t>δ</a:t>
            </a:r>
            <a:r>
              <a:rPr sz="3100" b="1" baseline="-25000">
                <a:solidFill>
                  <a:srgbClr val="D2622A"/>
                </a:solidFill>
                <a:latin typeface="Inter"/>
              </a:rPr>
              <a:t>t</a:t>
            </a:r>
            <a:r>
              <a:rPr sz="3100" b="1">
                <a:solidFill>
                  <a:srgbClr val="D2622A"/>
                </a:solidFill>
                <a:latin typeface="Inter"/>
              </a:rPr>
              <a:t> = </a:t>
            </a:r>
            <a:r>
              <a:rPr sz="3100" b="1">
                <a:solidFill>
                  <a:srgbClr val="D2622A"/>
                </a:solidFill>
                <a:latin typeface="Inter"/>
              </a:rPr>
              <a:t>A</a:t>
            </a:r>
            <a:r>
              <a:rPr sz="3100" b="1" baseline="-25000">
                <a:solidFill>
                  <a:srgbClr val="D2622A"/>
                </a:solidFill>
                <a:latin typeface="Inter"/>
              </a:rPr>
              <a:t>t</a:t>
            </a:r>
            <a:r>
              <a:rPr sz="3100" b="1">
                <a:solidFill>
                  <a:srgbClr val="D2622A"/>
                </a:solidFill>
                <a:latin typeface="Inter"/>
              </a:rPr>
              <a:t> · </a:t>
            </a:r>
            <a:r>
              <a:rPr sz="3100" b="1">
                <a:solidFill>
                  <a:srgbClr val="D2622A"/>
                </a:solidFill>
                <a:latin typeface="Inter"/>
              </a:rPr>
              <a:t>δ</a:t>
            </a:r>
            <a:r>
              <a:rPr sz="3100" b="1" baseline="-25000">
                <a:solidFill>
                  <a:srgbClr val="D2622A"/>
                </a:solidFill>
                <a:latin typeface="Inter"/>
              </a:rPr>
              <a:t>prev</a:t>
            </a:r>
            <a:r>
              <a:rPr sz="3100" b="1">
                <a:solidFill>
                  <a:srgbClr val="D2622A"/>
                </a:solidFill>
                <a:latin typeface="Inter"/>
              </a:rPr>
              <a:t> + </a:t>
            </a:r>
            <a:r>
              <a:rPr sz="3100" b="1">
                <a:solidFill>
                  <a:srgbClr val="D2622A"/>
                </a:solidFill>
                <a:latin typeface="Inter"/>
              </a:rPr>
              <a:t>r</a:t>
            </a:r>
            <a:r>
              <a:rPr sz="3100" b="1" baseline="-25000">
                <a:solidFill>
                  <a:srgbClr val="D2622A"/>
                </a:solidFill>
                <a:latin typeface="Inter"/>
              </a:rPr>
              <a:t>t</a:t>
            </a:r>
            <a:endParaRPr lang="en-US" sz="3116" dirty="0"/>
          </a:p>
        </p:txBody>
      </p:sp>
      <p:sp>
        <p:nvSpPr>
          <p:cNvPr id="5" name="Shape 3"/>
          <p:cNvSpPr/>
          <p:nvPr/>
        </p:nvSpPr>
        <p:spPr>
          <a:xfrm>
            <a:off x="812800" y="3931707"/>
            <a:ext cx="5156200" cy="1293389"/>
          </a:xfrm>
          <a:prstGeom prst="roundRect">
            <a:avLst>
              <a:gd name="adj" fmla="val 9819"/>
            </a:avLst>
          </a:prstGeom>
          <a:solidFill>
            <a:srgbClr val="ECE7DD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4211107"/>
            <a:ext cx="4735322" cy="24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4"/>
              </a:lnSpc>
              <a:buNone/>
            </a:pPr>
            <a:r>
              <a:rPr sz="1900" b="1">
                <a:solidFill>
                  <a:srgbClr val="D2622A"/>
                </a:solidFill>
                <a:latin typeface="Inter"/>
              </a:rPr>
              <a:t>A</a:t>
            </a:r>
            <a:r>
              <a:rPr sz="1900" b="1" baseline="-25000">
                <a:solidFill>
                  <a:srgbClr val="D2622A"/>
                </a:solidFill>
                <a:latin typeface="Inter"/>
              </a:rPr>
              <a:t>t</a:t>
            </a:r>
            <a:endParaRPr lang="en-US" sz="1437" dirty="0"/>
          </a:p>
        </p:txBody>
      </p:sp>
      <p:sp>
        <p:nvSpPr>
          <p:cNvPr id="7" name="Text 5"/>
          <p:cNvSpPr/>
          <p:nvPr/>
        </p:nvSpPr>
        <p:spPr>
          <a:xfrm>
            <a:off x="1092200" y="4543636"/>
            <a:ext cx="4876800" cy="427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98"/>
              </a:lnSpc>
              <a:buNone/>
            </a:pPr>
            <a:r>
              <a:rPr lang="en-US" sz="1284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насколько ячейка чувствительна к прошлому состоянию</a:t>
            </a:r>
            <a:endParaRPr lang="en-US" sz="1284" dirty="0"/>
          </a:p>
        </p:txBody>
      </p:sp>
      <p:sp>
        <p:nvSpPr>
          <p:cNvPr id="8" name="Shape 6"/>
          <p:cNvSpPr/>
          <p:nvPr/>
        </p:nvSpPr>
        <p:spPr>
          <a:xfrm>
            <a:off x="6223000" y="3931707"/>
            <a:ext cx="5156200" cy="1293389"/>
          </a:xfrm>
          <a:prstGeom prst="roundRect">
            <a:avLst>
              <a:gd name="adj" fmla="val 9819"/>
            </a:avLst>
          </a:prstGeom>
          <a:solidFill>
            <a:srgbClr val="ECE7DD"/>
          </a:solidFill>
          <a:ln/>
        </p:spPr>
      </p:sp>
      <p:sp>
        <p:nvSpPr>
          <p:cNvPr id="9" name="Text 7"/>
          <p:cNvSpPr/>
          <p:nvPr/>
        </p:nvSpPr>
        <p:spPr>
          <a:xfrm>
            <a:off x="6502400" y="4211107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sz="1900" b="1">
                <a:solidFill>
                  <a:srgbClr val="D2622A"/>
                </a:solidFill>
                <a:latin typeface="Inter"/>
              </a:rPr>
              <a:t>r</a:t>
            </a:r>
            <a:r>
              <a:rPr sz="1900" b="1" baseline="-25000">
                <a:solidFill>
                  <a:srgbClr val="D2622A"/>
                </a:solidFill>
                <a:latin typeface="Inter"/>
              </a:rPr>
              <a:t>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02400" y="4614968"/>
            <a:ext cx="4876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насколько черновик промахнулся на этом шаге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5580698"/>
            <a:ext cx="10883392" cy="286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68"/>
              </a:lnSpc>
              <a:buNone/>
            </a:pPr>
            <a:r>
              <a:rPr lang="en-US" sz="1477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та же форма, что у Mamba, поэтому цепочку снова сворачивают деревом.</a:t>
            </a:r>
            <a:endParaRPr lang="en-US" sz="147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Ячейки упростили, чтобы Ньютон был дешёвым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39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Полная матрица производных GRU — state × state на каждом токене. Хранить и перемножать её на длинном тексте дорого.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2800" y="2611121"/>
            <a:ext cx="5156200" cy="1762760"/>
          </a:xfrm>
          <a:prstGeom prst="roundRect">
            <a:avLst>
              <a:gd name="adj" fmla="val 7205"/>
            </a:avLst>
          </a:prstGeom>
          <a:solidFill>
            <a:srgbClr val="ECE7DD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2890521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ParaGRU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2200" y="3294379"/>
            <a:ext cx="47353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Рекуррентные веса диагональные: каждое число состояния зависит только от себя. Производная — набор чисел, а не матрица.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23000" y="2611121"/>
            <a:ext cx="5156200" cy="1762760"/>
          </a:xfrm>
          <a:prstGeom prst="roundRect">
            <a:avLst>
              <a:gd name="adj" fmla="val 7205"/>
            </a:avLst>
          </a:prstGeom>
          <a:solidFill>
            <a:srgbClr val="ECE7DD"/>
          </a:solidFill>
          <a:ln/>
        </p:spPr>
      </p:sp>
      <p:sp>
        <p:nvSpPr>
          <p:cNvPr id="8" name="Text 6"/>
          <p:cNvSpPr/>
          <p:nvPr/>
        </p:nvSpPr>
        <p:spPr>
          <a:xfrm>
            <a:off x="6502400" y="2890521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ParaLSTM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02400" y="3294379"/>
            <a:ext cx="47353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 и забывание связаны. На каждый канал — маленький блок 2×2 вместо плотной матрицы.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4729479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Формулы GRU и LSTM те же. Меняется только то, какие матрицы плотные.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1: ответ совпадает с циклом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42"/>
            <a:ext cx="5156200" cy="2308860"/>
          </a:xfrm>
          <a:prstGeom prst="roundRect">
            <a:avLst>
              <a:gd name="adj" fmla="val 5501"/>
            </a:avLst>
          </a:prstGeom>
          <a:solidFill>
            <a:srgbClr val="ECE7DD"/>
          </a:solidFill>
          <a:ln/>
        </p:spPr>
      </p:sp>
      <p:sp>
        <p:nvSpPr>
          <p:cNvPr id="4" name="Text 2"/>
          <p:cNvSpPr/>
          <p:nvPr/>
        </p:nvSpPr>
        <p:spPr>
          <a:xfrm>
            <a:off x="1092200" y="1894842"/>
            <a:ext cx="473532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1092200" y="2707642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итерации Ньютона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2200" y="3111500"/>
            <a:ext cx="47353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хватает, чтобы совпасть с обычным циклом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23000" y="1615442"/>
            <a:ext cx="5156200" cy="2308860"/>
          </a:xfrm>
          <a:prstGeom prst="roundRect">
            <a:avLst>
              <a:gd name="adj" fmla="val 5501"/>
            </a:avLst>
          </a:prstGeom>
          <a:solidFill>
            <a:srgbClr val="ECE7DD"/>
          </a:solidFill>
          <a:ln/>
        </p:spPr>
      </p:sp>
      <p:sp>
        <p:nvSpPr>
          <p:cNvPr id="8" name="Text 6"/>
          <p:cNvSpPr/>
          <p:nvPr/>
        </p:nvSpPr>
        <p:spPr>
          <a:xfrm>
            <a:off x="6502400" y="1894842"/>
            <a:ext cx="473532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sz="4800" b="1">
                <a:solidFill>
                  <a:srgbClr val="D2622A"/>
                </a:solidFill>
                <a:latin typeface="Inter"/>
              </a:rPr>
              <a:t>~10</a:t>
            </a:r>
            <a:r>
              <a:rPr sz="4800" b="1" baseline="30000">
                <a:solidFill>
                  <a:srgbClr val="D2622A"/>
                </a:solidFill>
                <a:latin typeface="Inter"/>
              </a:rPr>
              <a:t>-7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6502400" y="2707642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расхождение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02400" y="3111500"/>
            <a:ext cx="47353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 и градиенты, режимы PyTorch, CUDA и fused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27990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Длины 128, 512 и 2048 дают одну и ту же картину: длина почти не влияет на число итераций.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2: скорость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42"/>
            <a:ext cx="5156200" cy="2308860"/>
          </a:xfrm>
          <a:prstGeom prst="roundRect">
            <a:avLst>
              <a:gd name="adj" fmla="val 5501"/>
            </a:avLst>
          </a:prstGeom>
          <a:solidFill>
            <a:srgbClr val="ECE7DD"/>
          </a:solidFill>
          <a:ln/>
        </p:spPr>
      </p:sp>
      <p:sp>
        <p:nvSpPr>
          <p:cNvPr id="4" name="Text 2"/>
          <p:cNvSpPr/>
          <p:nvPr/>
        </p:nvSpPr>
        <p:spPr>
          <a:xfrm>
            <a:off x="1092200" y="1894842"/>
            <a:ext cx="473532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≈760×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1092200" y="2707642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ParaGRU, длина 4096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2200" y="3111500"/>
            <a:ext cx="47353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цикл 2913 мс, fused 3,8 мс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23000" y="1615442"/>
            <a:ext cx="5156200" cy="2308860"/>
          </a:xfrm>
          <a:prstGeom prst="roundRect">
            <a:avLst>
              <a:gd name="adj" fmla="val 5501"/>
            </a:avLst>
          </a:prstGeom>
          <a:solidFill>
            <a:srgbClr val="ECE7DD"/>
          </a:solidFill>
          <a:ln/>
        </p:spPr>
      </p:sp>
      <p:sp>
        <p:nvSpPr>
          <p:cNvPr id="8" name="Text 6"/>
          <p:cNvSpPr/>
          <p:nvPr/>
        </p:nvSpPr>
        <p:spPr>
          <a:xfrm>
            <a:off x="6502400" y="1894842"/>
            <a:ext cx="473532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156×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6502400" y="2707642"/>
            <a:ext cx="473532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ParaLSTM, длина 4096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02400" y="3111500"/>
            <a:ext cx="47353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блоки 2×2 тяжелее диагонали, поэтому выигрыш меньше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27990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цикла растёт с длиной, fused почти нет. RTX 3060 Laptop, ширина 64, batch 2, прямой и обратный проход. В статье до 665× на A100 (только прямой проход): числа напрямую сравнивать нельзя, совпадает форма кривых.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3: зачем нужна нелинейность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42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Задача «чётность»: чётно ли число единиц в строке из нулей и единиц? Линейной рекуррентностью это выразить нельзя.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2800" y="2611121"/>
            <a:ext cx="3352800" cy="2042160"/>
          </a:xfrm>
          <a:prstGeom prst="roundRect">
            <a:avLst>
              <a:gd name="adj" fmla="val 6219"/>
            </a:avLst>
          </a:prstGeom>
          <a:solidFill>
            <a:srgbClr val="ECE7DD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2890521"/>
            <a:ext cx="287782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0,50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1092200" y="3703321"/>
            <a:ext cx="287782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Линейная RNN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2200" y="4107179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точность после 400 шагов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9600" y="2611121"/>
            <a:ext cx="3352800" cy="2042160"/>
          </a:xfrm>
          <a:prstGeom prst="roundRect">
            <a:avLst>
              <a:gd name="adj" fmla="val 6219"/>
            </a:avLst>
          </a:prstGeom>
          <a:solidFill>
            <a:srgbClr val="ECE7DD"/>
          </a:solidFill>
          <a:ln/>
        </p:spPr>
      </p:sp>
      <p:sp>
        <p:nvSpPr>
          <p:cNvPr id="9" name="Text 7"/>
          <p:cNvSpPr/>
          <p:nvPr/>
        </p:nvSpPr>
        <p:spPr>
          <a:xfrm>
            <a:off x="4699000" y="2890521"/>
            <a:ext cx="287782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0,999</a:t>
            </a:r>
            <a:endParaRPr lang="en-US" sz="5500" dirty="0"/>
          </a:p>
        </p:txBody>
      </p:sp>
      <p:sp>
        <p:nvSpPr>
          <p:cNvPr id="10" name="Text 8"/>
          <p:cNvSpPr/>
          <p:nvPr/>
        </p:nvSpPr>
        <p:spPr>
          <a:xfrm>
            <a:off x="4699000" y="3703321"/>
            <a:ext cx="287782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ParaGRU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99000" y="4107179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точность, шаг 250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26400" y="2611121"/>
            <a:ext cx="3352800" cy="2042160"/>
          </a:xfrm>
          <a:prstGeom prst="roundRect">
            <a:avLst>
              <a:gd name="adj" fmla="val 6219"/>
            </a:avLst>
          </a:prstGeom>
          <a:solidFill>
            <a:srgbClr val="ECE7DD"/>
          </a:solidFill>
          <a:ln/>
        </p:spPr>
      </p:sp>
      <p:sp>
        <p:nvSpPr>
          <p:cNvPr id="13" name="Text 11"/>
          <p:cNvSpPr/>
          <p:nvPr/>
        </p:nvSpPr>
        <p:spPr>
          <a:xfrm>
            <a:off x="8305800" y="2890521"/>
            <a:ext cx="287782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</a:t>
            </a:r>
            <a:endParaRPr lang="en-US" sz="5500" dirty="0"/>
          </a:p>
        </p:txBody>
      </p:sp>
      <p:sp>
        <p:nvSpPr>
          <p:cNvPr id="14" name="Text 12"/>
          <p:cNvSpPr/>
          <p:nvPr/>
        </p:nvSpPr>
        <p:spPr>
          <a:xfrm>
            <a:off x="8305800" y="3703321"/>
            <a:ext cx="2877820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ParaLSTM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05800" y="4107179"/>
            <a:ext cx="28778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точность, шаг 225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5008879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Длина строки 50, один сид. В статье на этой задаче Mamba2 около 51%, трансформер 53%, нелинейные ячейки 100%.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1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 на моделях 7B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812800" y="1604225"/>
            <a:ext cx="10883392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4"/>
              </a:lnSpc>
              <a:buNone/>
            </a:pPr>
            <a:r>
              <a:rPr lang="en-US" sz="156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Числа из таблицы авторов: ячейку ставят вместо внимания и учат на SlimPajama. Это недели на нескольких H100.</a:t>
            </a:r>
            <a:endParaRPr lang="en-US" sz="156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527195"/>
          <a:ext cx="10553700" cy="2439458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87892"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b="1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модель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b="1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параметры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b="1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перплексия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E"/>
                    </a:solidFill>
                  </a:tcPr>
                </a:tc>
              </a:tr>
              <a:tr h="487892"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Mamba2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6,96B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8,62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892"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ParaLSTM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6,76B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9,16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892"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ParaGRU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6,76B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9,19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892"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Transformer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6,89B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42"/>
                        </a:lnSpc>
                        <a:buNone/>
                      </a:pPr>
                      <a:r>
                        <a:rPr lang="en-US" sz="1530" dirty="0">
                          <a:solidFill>
                            <a:srgbClr val="1F2A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9,55</a:t>
                      </a:r>
                      <a:endParaRPr lang="en-US" sz="15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101600" marB="10160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321933"/>
            <a:ext cx="10883392" cy="545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61"/>
              </a:lnSpc>
              <a:buNone/>
            </a:pPr>
            <a:r>
              <a:rPr lang="en-US" sz="1472" dirty="0">
                <a:solidFill>
                  <a:srgbClr val="5C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Меньше перплексия — лучше. Вывод скромный: нелинейная RNN не проигрывает трансформеру того же размера.</a:t>
            </a:r>
            <a:endParaRPr lang="en-US" sz="147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617346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440304"/>
            <a:ext cx="10883392" cy="77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F7F5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Нелинейную RNN не нужно разворачивать циклом: три итерации Ньютона и дерево.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3550283"/>
            <a:ext cx="10883392" cy="77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sz="1800" b="0">
                <a:solidFill>
                  <a:srgbClr val="1F2A33"/>
                </a:solidFill>
                <a:latin typeface="Inter"/>
              </a:rPr>
              <a:t>Ответ совпадает с циклом до 10</a:t>
            </a:r>
            <a:r>
              <a:rPr sz="1800" b="0" baseline="30000">
                <a:solidFill>
                  <a:srgbClr val="1F2A33"/>
                </a:solidFill>
                <a:latin typeface="Inter"/>
              </a:rPr>
              <a:t>-7</a:t>
            </a:r>
            <a:r>
              <a:rPr sz="1800" b="0">
                <a:solidFill>
                  <a:srgbClr val="1F2A33"/>
                </a:solidFill>
                <a:latin typeface="Inter"/>
              </a:rPr>
              <a:t> (наш запуск). Выигрыш в сотни раз: у авторов до 665×, у нас ≈760× на длине 4096.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660267"/>
            <a:ext cx="10883392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Нелинейность сохраняется, и именно она выучивает чётность.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шаги — одна система уравнений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486400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Каждое уравнение связано только с предыдущим, поэтому ненулевые блоки лежат на двух диагоналях. Такую систему можно решить быстро.</a:t>
            </a:r>
            <a:endParaRPr lang="en-US" sz="1700" dirty="0"/>
          </a:p>
        </p:txBody>
      </p:sp>
      <p:sp>
        <p:nvSpPr>
          <p:cNvPr id="5" name="Rounded Rectangle 4"/>
          <p:cNvSpPr/>
          <p:nvPr/>
        </p:nvSpPr>
        <p:spPr>
          <a:xfrm>
            <a:off x="812800" y="1615439"/>
            <a:ext cx="4846320" cy="352044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20" y="1871471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Что нужно найти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20" y="2484119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A33"/>
                </a:solidFill>
                <a:latin typeface="Inter"/>
              </a:rPr>
              <a:t>h</a:t>
            </a:r>
            <a:r>
              <a:rPr sz="2200" b="1" baseline="-25000">
                <a:solidFill>
                  <a:srgbClr val="1F2A33"/>
                </a:solidFill>
                <a:latin typeface="Inter"/>
              </a:rPr>
              <a:t>1</a:t>
            </a:r>
            <a:r>
              <a:rPr sz="2200" b="1">
                <a:solidFill>
                  <a:srgbClr val="1F2A33"/>
                </a:solidFill>
                <a:latin typeface="Inter"/>
              </a:rPr>
              <a:t> = f(0, </a:t>
            </a:r>
            <a:r>
              <a:rPr sz="2200" b="1">
                <a:solidFill>
                  <a:srgbClr val="1F2A33"/>
                </a:solidFill>
                <a:latin typeface="Inter"/>
              </a:rPr>
              <a:t>x</a:t>
            </a:r>
            <a:r>
              <a:rPr sz="2200" b="1" baseline="-25000">
                <a:solidFill>
                  <a:srgbClr val="1F2A33"/>
                </a:solidFill>
                <a:latin typeface="Inter"/>
              </a:rPr>
              <a:t>1</a:t>
            </a:r>
            <a:r>
              <a:rPr sz="2200" b="1">
                <a:solidFill>
                  <a:srgbClr val="1F2A33"/>
                </a:solidFill>
                <a:latin typeface="Inter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2200" b="1">
                <a:solidFill>
                  <a:srgbClr val="1F2A33"/>
                </a:solidFill>
                <a:latin typeface="Inter"/>
              </a:rPr>
              <a:t>h</a:t>
            </a:r>
            <a:r>
              <a:rPr sz="2200" b="1" baseline="-25000">
                <a:solidFill>
                  <a:srgbClr val="1F2A33"/>
                </a:solidFill>
                <a:latin typeface="Inter"/>
              </a:rPr>
              <a:t>2</a:t>
            </a:r>
            <a:r>
              <a:rPr sz="2200" b="1">
                <a:solidFill>
                  <a:srgbClr val="1F2A33"/>
                </a:solidFill>
                <a:latin typeface="Inter"/>
              </a:rPr>
              <a:t> = f(</a:t>
            </a:r>
            <a:r>
              <a:rPr sz="2200" b="1">
                <a:solidFill>
                  <a:srgbClr val="1F2A33"/>
                </a:solidFill>
                <a:latin typeface="Inter"/>
              </a:rPr>
              <a:t>h</a:t>
            </a:r>
            <a:r>
              <a:rPr sz="2200" b="1" baseline="-25000">
                <a:solidFill>
                  <a:srgbClr val="1F2A33"/>
                </a:solidFill>
                <a:latin typeface="Inter"/>
              </a:rPr>
              <a:t>1</a:t>
            </a:r>
            <a:r>
              <a:rPr sz="2200" b="1">
                <a:solidFill>
                  <a:srgbClr val="1F2A33"/>
                </a:solidFill>
                <a:latin typeface="Inter"/>
              </a:rPr>
              <a:t>, </a:t>
            </a:r>
            <a:r>
              <a:rPr sz="2200" b="1">
                <a:solidFill>
                  <a:srgbClr val="1F2A33"/>
                </a:solidFill>
                <a:latin typeface="Inter"/>
              </a:rPr>
              <a:t>x</a:t>
            </a:r>
            <a:r>
              <a:rPr sz="2200" b="1" baseline="-25000">
                <a:solidFill>
                  <a:srgbClr val="1F2A33"/>
                </a:solidFill>
                <a:latin typeface="Inter"/>
              </a:rPr>
              <a:t>2</a:t>
            </a:r>
            <a:r>
              <a:rPr sz="2200" b="1">
                <a:solidFill>
                  <a:srgbClr val="1F2A33"/>
                </a:solidFill>
                <a:latin typeface="Inter"/>
              </a:rPr>
              <a:t>)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2200" b="1">
                <a:solidFill>
                  <a:srgbClr val="1F2A33"/>
                </a:solidFill>
                <a:latin typeface="Inter"/>
              </a:rPr>
              <a:t>…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2200" b="1">
                <a:solidFill>
                  <a:srgbClr val="1F2A33"/>
                </a:solidFill>
                <a:latin typeface="Inter"/>
              </a:rPr>
              <a:t>h</a:t>
            </a:r>
            <a:r>
              <a:rPr sz="2200" b="1" baseline="-25000">
                <a:solidFill>
                  <a:srgbClr val="1F2A33"/>
                </a:solidFill>
                <a:latin typeface="Inter"/>
              </a:rPr>
              <a:t>L</a:t>
            </a:r>
            <a:r>
              <a:rPr sz="2200" b="1">
                <a:solidFill>
                  <a:srgbClr val="1F2A33"/>
                </a:solidFill>
                <a:latin typeface="Inter"/>
              </a:rPr>
              <a:t> = f(</a:t>
            </a:r>
            <a:r>
              <a:rPr sz="2200" b="1">
                <a:solidFill>
                  <a:srgbClr val="1F2A33"/>
                </a:solidFill>
                <a:latin typeface="Inter"/>
              </a:rPr>
              <a:t>h</a:t>
            </a:r>
            <a:r>
              <a:rPr sz="2200" b="1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2200" b="1">
                <a:solidFill>
                  <a:srgbClr val="1F2A33"/>
                </a:solidFill>
                <a:latin typeface="Inter"/>
              </a:rPr>
              <a:t>, </a:t>
            </a:r>
            <a:r>
              <a:rPr sz="2200" b="1">
                <a:solidFill>
                  <a:srgbClr val="1F2A33"/>
                </a:solidFill>
                <a:latin typeface="Inter"/>
              </a:rPr>
              <a:t>x</a:t>
            </a:r>
            <a:r>
              <a:rPr sz="2200" b="1" baseline="-25000">
                <a:solidFill>
                  <a:srgbClr val="1F2A33"/>
                </a:solidFill>
                <a:latin typeface="Inter"/>
              </a:rPr>
              <a:t>L</a:t>
            </a:r>
            <a:r>
              <a:rPr sz="2200" b="1">
                <a:solidFill>
                  <a:srgbClr val="1F2A33"/>
                </a:solidFill>
                <a:latin typeface="Inter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7120" y="4312919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570"/>
                </a:solidFill>
                <a:latin typeface="Inter"/>
              </a:rPr>
              <a:t>Неизвестны все h сразу, это L уравнений. Метод Ньютона заменяет их линейными.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154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5C6570"/>
                </a:solidFill>
                <a:latin typeface="Inter"/>
              </a:rPr>
              <a:t>Один шаг Ньютона: линейная система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2164079"/>
            <a:ext cx="475488" cy="475488"/>
          </a:xfrm>
          <a:prstGeom prst="rect">
            <a:avLst/>
          </a:prstGeom>
          <a:solidFill>
            <a:srgbClr val="ECE7DD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3448" y="2164079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88936" y="2164079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4424" y="2164079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39912" y="2164079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639567"/>
            <a:ext cx="475488" cy="475488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J</a:t>
            </a:r>
            <a:r>
              <a:rPr sz="1300" b="1" baseline="-2500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13448" y="2639567"/>
            <a:ext cx="475488" cy="475488"/>
          </a:xfrm>
          <a:prstGeom prst="rect">
            <a:avLst/>
          </a:prstGeom>
          <a:solidFill>
            <a:srgbClr val="ECE7DD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88936" y="2639567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4424" y="2639567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39912" y="2639567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3115055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13448" y="3115055"/>
            <a:ext cx="475488" cy="475488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J</a:t>
            </a:r>
            <a:r>
              <a:rPr sz="1300" b="1" baseline="-2500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88936" y="3115055"/>
            <a:ext cx="475488" cy="475488"/>
          </a:xfrm>
          <a:prstGeom prst="rect">
            <a:avLst/>
          </a:prstGeom>
          <a:solidFill>
            <a:srgbClr val="ECE7DD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64424" y="3115055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39912" y="3115055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3590543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13448" y="3590543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88936" y="3590543"/>
            <a:ext cx="475488" cy="475488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J</a:t>
            </a:r>
            <a:r>
              <a:rPr sz="1300" b="1" baseline="-2500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64424" y="3590543"/>
            <a:ext cx="475488" cy="475488"/>
          </a:xfrm>
          <a:prstGeom prst="rect">
            <a:avLst/>
          </a:prstGeom>
          <a:solidFill>
            <a:srgbClr val="ECE7DD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9912" y="3590543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4066031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13448" y="4066031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88936" y="4066031"/>
            <a:ext cx="475488" cy="475488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64424" y="4066031"/>
            <a:ext cx="475488" cy="475488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J</a:t>
            </a:r>
            <a:r>
              <a:rPr sz="1300" b="1" baseline="-2500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9912" y="4066031"/>
            <a:ext cx="475488" cy="475488"/>
          </a:xfrm>
          <a:prstGeom prst="rect">
            <a:avLst/>
          </a:prstGeom>
          <a:solidFill>
            <a:srgbClr val="ECE7DD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164079"/>
            <a:ext cx="475488" cy="475488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δ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2639567"/>
            <a:ext cx="475488" cy="475488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δ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3115055"/>
            <a:ext cx="475488" cy="475488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δ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3590543"/>
            <a:ext cx="475488" cy="475488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δ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4066031"/>
            <a:ext cx="475488" cy="475488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δ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2164079"/>
            <a:ext cx="36576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F2A33"/>
                </a:solidFill>
                <a:latin typeface="Inter"/>
              </a:rPr>
              <a:t>=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76688" y="2164079"/>
            <a:ext cx="475488" cy="475488"/>
          </a:xfrm>
          <a:prstGeom prst="rect">
            <a:avLst/>
          </a:prstGeom>
          <a:solidFill>
            <a:srgbClr val="F2CDB6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r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76688" y="2639567"/>
            <a:ext cx="475488" cy="475488"/>
          </a:xfrm>
          <a:prstGeom prst="rect">
            <a:avLst/>
          </a:prstGeom>
          <a:solidFill>
            <a:srgbClr val="F2CDB6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r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76688" y="3115055"/>
            <a:ext cx="475488" cy="475488"/>
          </a:xfrm>
          <a:prstGeom prst="rect">
            <a:avLst/>
          </a:prstGeom>
          <a:solidFill>
            <a:srgbClr val="F2CDB6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r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76688" y="3590543"/>
            <a:ext cx="475488" cy="475488"/>
          </a:xfrm>
          <a:prstGeom prst="rect">
            <a:avLst/>
          </a:prstGeom>
          <a:solidFill>
            <a:srgbClr val="F2CDB6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r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76688" y="4066031"/>
            <a:ext cx="475488" cy="475488"/>
          </a:xfrm>
          <a:prstGeom prst="rect">
            <a:avLst/>
          </a:prstGeom>
          <a:solidFill>
            <a:srgbClr val="F2CDB6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r</a:t>
            </a:r>
            <a:r>
              <a:rPr sz="1300" b="1" baseline="-25000">
                <a:solidFill>
                  <a:srgbClr val="1F2A33"/>
                </a:solidFill>
                <a:latin typeface="Inter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724399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5C6570"/>
                </a:solidFill>
                <a:latin typeface="Inter"/>
              </a:rPr>
              <a:t>I</a:t>
            </a:r>
            <a:r>
              <a:rPr sz="1400" b="0">
                <a:solidFill>
                  <a:srgbClr val="5C6570"/>
                </a:solidFill>
                <a:latin typeface="Inter"/>
              </a:rPr>
              <a:t> — единичная матрица. </a:t>
            </a:r>
            <a:r>
              <a:rPr sz="1400" b="1">
                <a:solidFill>
                  <a:srgbClr val="D2622A"/>
                </a:solidFill>
                <a:latin typeface="Inter"/>
              </a:rPr>
              <a:t>J</a:t>
            </a:r>
            <a:r>
              <a:rPr sz="1400" b="1" baseline="-25000">
                <a:solidFill>
                  <a:srgbClr val="D2622A"/>
                </a:solidFill>
                <a:latin typeface="Inter"/>
              </a:rPr>
              <a:t>t</a:t>
            </a:r>
            <a:r>
              <a:rPr sz="1400" b="0">
                <a:solidFill>
                  <a:srgbClr val="5C6570"/>
                </a:solidFill>
                <a:latin typeface="Inter"/>
              </a:rPr>
              <a:t> — якобиан шага t. </a:t>
            </a:r>
            <a:r>
              <a:rPr sz="1400" b="1">
                <a:solidFill>
                  <a:srgbClr val="5C6570"/>
                </a:solidFill>
                <a:latin typeface="Inter"/>
              </a:rPr>
              <a:t>δ</a:t>
            </a:r>
            <a:r>
              <a:rPr sz="1400" b="0">
                <a:solidFill>
                  <a:srgbClr val="5C6570"/>
                </a:solidFill>
                <a:latin typeface="Inter"/>
              </a:rPr>
              <a:t> — поправки, </a:t>
            </a:r>
            <a:r>
              <a:rPr sz="1400" b="1">
                <a:solidFill>
                  <a:srgbClr val="5C6570"/>
                </a:solidFill>
                <a:latin typeface="Inter"/>
              </a:rPr>
              <a:t>r</a:t>
            </a:r>
            <a:r>
              <a:rPr sz="1400" b="0">
                <a:solidFill>
                  <a:srgbClr val="5C6570"/>
                </a:solidFill>
                <a:latin typeface="Inter"/>
              </a:rPr>
              <a:t> — на сколько черновик промахнулся.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якобиан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166360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якобиан диагональный, вся «таблица» — один вектор: каждое число состояния зависит только от самого себя.</a:t>
            </a:r>
            <a:endParaRPr lang="en-US" sz="1700" dirty="0"/>
          </a:p>
        </p:txBody>
      </p:sp>
      <p:sp>
        <p:nvSpPr>
          <p:cNvPr id="5" name="TextBox 4"/>
          <p:cNvSpPr txBox="1"/>
          <p:nvPr/>
        </p:nvSpPr>
        <p:spPr>
          <a:xfrm>
            <a:off x="812800" y="1615439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Ячейка берёт старое состояние h и считает новое: </a:t>
            </a:r>
            <a:r>
              <a:rPr sz="1700" b="0">
                <a:solidFill>
                  <a:srgbClr val="1F2A33"/>
                </a:solidFill>
                <a:latin typeface="Inter"/>
              </a:rPr>
              <a:t>h</a:t>
            </a:r>
            <a:r>
              <a:rPr sz="1700" b="0" baseline="-25000">
                <a:solidFill>
                  <a:srgbClr val="1F2A33"/>
                </a:solidFill>
                <a:latin typeface="Inter"/>
              </a:rPr>
              <a:t>next</a:t>
            </a:r>
            <a:r>
              <a:rPr sz="1700" b="0">
                <a:solidFill>
                  <a:srgbClr val="1F2A33"/>
                </a:solidFill>
                <a:latin typeface="Inter"/>
              </a:rPr>
              <a:t> = f(</a:t>
            </a:r>
            <a:r>
              <a:rPr sz="1700" b="0">
                <a:solidFill>
                  <a:srgbClr val="1F2A33"/>
                </a:solidFill>
                <a:latin typeface="Inter"/>
              </a:rPr>
              <a:t>h</a:t>
            </a:r>
            <a:r>
              <a:rPr sz="1700" b="0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700" b="0">
                <a:solidFill>
                  <a:srgbClr val="1F2A33"/>
                </a:solidFill>
                <a:latin typeface="Inter"/>
              </a:rPr>
              <a:t>, </a:t>
            </a:r>
            <a:r>
              <a:rPr sz="1700" b="0">
                <a:solidFill>
                  <a:srgbClr val="1F2A33"/>
                </a:solidFill>
                <a:latin typeface="Inter"/>
              </a:rPr>
              <a:t>x</a:t>
            </a:r>
            <a:r>
              <a:rPr sz="1700" b="0" baseline="-25000">
                <a:solidFill>
                  <a:srgbClr val="1F2A33"/>
                </a:solidFill>
                <a:latin typeface="Inter"/>
              </a:rPr>
              <a:t>t</a:t>
            </a:r>
            <a:r>
              <a:rPr sz="1700" b="0">
                <a:solidFill>
                  <a:srgbClr val="1F2A33"/>
                </a:solidFill>
                <a:latin typeface="Inter"/>
              </a:rPr>
              <a:t>).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700" b="0">
                <a:solidFill>
                  <a:srgbClr val="1F2A33"/>
                </a:solidFill>
                <a:latin typeface="Inter"/>
              </a:rPr>
              <a:t>Якобиан J — таблица d × d. В строке i и столбце j стоит число: насколько сдвинется i-е число нового состояния, если чуть изменить j-е число старого.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700" b="0">
                <a:solidFill>
                  <a:srgbClr val="1F2A33"/>
                </a:solidFill>
                <a:latin typeface="Inter"/>
              </a:rPr>
              <a:t>Ньютону J нужен на каждом шаге: по нему он заменяет ячейку касательной.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70687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48272" y="170687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95744" y="170687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43216" y="170687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90688" y="170687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70687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054351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48272" y="2054351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95744" y="2054351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43216" y="2054351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90688" y="2054351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054351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401823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48272" y="2401823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95744" y="2401823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43216" y="2401823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90688" y="2401823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401823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749295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48272" y="2749295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95744" y="2749295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43216" y="2749295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2749295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2749295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096767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48272" y="3096767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95744" y="3096767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43216" y="3096767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90688" y="3096767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096767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44423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48272" y="344423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95744" y="344423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43216" y="344423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90688" y="344423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3444239"/>
            <a:ext cx="347472" cy="347472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0" y="1706879"/>
            <a:ext cx="347472" cy="347472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91472" y="170687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38944" y="170687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86416" y="170687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533888" y="170687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81360" y="170687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0" y="2054351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91472" y="2054351"/>
            <a:ext cx="347472" cy="347472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38944" y="2054351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186416" y="2054351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533888" y="2054351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81360" y="2054351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4000" y="2401823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91472" y="2401823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38944" y="2401823"/>
            <a:ext cx="347472" cy="347472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186416" y="2401823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33888" y="2401823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881360" y="2401823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0" y="2749295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91472" y="2749295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38944" y="2749295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186416" y="2749295"/>
            <a:ext cx="347472" cy="347472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533888" y="2749295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881360" y="2749295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44000" y="3096767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91472" y="3096767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38944" y="3096767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86416" y="3096767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33888" y="3096767"/>
            <a:ext cx="347472" cy="347472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881360" y="3096767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44000" y="344423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491472" y="344423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838944" y="344423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86416" y="344423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33888" y="3444239"/>
            <a:ext cx="347472" cy="347472"/>
          </a:xfrm>
          <a:prstGeom prst="rect">
            <a:avLst/>
          </a:prstGeom>
          <a:noFill/>
          <a:ln w="9525">
            <a:solidFill>
              <a:srgbClr val="CFC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881360" y="3444239"/>
            <a:ext cx="347472" cy="347472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3956303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2A33"/>
                </a:solidFill>
                <a:latin typeface="Inter"/>
              </a:rPr>
              <a:t>плотный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294631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570"/>
                </a:solidFill>
                <a:latin typeface="Inter"/>
              </a:rPr>
              <a:t>d</a:t>
            </a:r>
            <a:r>
              <a:rPr sz="1400" b="0" baseline="30000">
                <a:solidFill>
                  <a:srgbClr val="5C6570"/>
                </a:solidFill>
                <a:latin typeface="Inter"/>
              </a:rPr>
              <a:t>2</a:t>
            </a:r>
            <a:r>
              <a:rPr sz="1400" b="0">
                <a:solidFill>
                  <a:srgbClr val="5C6570"/>
                </a:solidFill>
                <a:latin typeface="Inter"/>
              </a:rPr>
              <a:t> чисел на шаг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3956303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2A33"/>
                </a:solidFill>
                <a:latin typeface="Inter"/>
              </a:rPr>
              <a:t>диагональный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4294631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C6570"/>
                </a:solidFill>
                <a:latin typeface="Inter"/>
              </a:rPr>
              <a:t>d чисел на шаг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якобиан должен быть диагональным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4754880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Так же устроены Mamba и S4D: диагональная матрица состояния. ParaRNN переносит этот приём на нелинейные ячейки.</a:t>
            </a:r>
            <a:endParaRPr lang="en-US" sz="1700" dirty="0"/>
          </a:p>
        </p:txBody>
      </p:sp>
      <p:sp>
        <p:nvSpPr>
          <p:cNvPr id="5" name="Rounded Rectangle 4"/>
          <p:cNvSpPr/>
          <p:nvPr/>
        </p:nvSpPr>
        <p:spPr>
          <a:xfrm>
            <a:off x="812800" y="1615439"/>
            <a:ext cx="5157216" cy="292608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20" y="1844039"/>
            <a:ext cx="46085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D2622A"/>
                </a:solidFill>
                <a:latin typeface="Inter"/>
              </a:rPr>
              <a:t>≈ 17 ГБ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20" y="2804159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2A33"/>
                </a:solidFill>
                <a:latin typeface="Inter"/>
              </a:rPr>
              <a:t>плотные якобианы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7120" y="3215639"/>
            <a:ext cx="460857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F2A33"/>
                </a:solidFill>
                <a:latin typeface="Inter"/>
              </a:rPr>
              <a:t>Память L·d</a:t>
            </a:r>
            <a:r>
              <a:rPr sz="1600" b="0" baseline="30000">
                <a:solidFill>
                  <a:srgbClr val="1F2A33"/>
                </a:solidFill>
                <a:latin typeface="Inter"/>
              </a:rPr>
              <a:t>2</a:t>
            </a:r>
            <a:r>
              <a:rPr sz="1600" b="0">
                <a:solidFill>
                  <a:srgbClr val="1F2A33"/>
                </a:solidFill>
                <a:latin typeface="Inter"/>
              </a:rPr>
              <a:t>, одно перемножение двух якобианов стоит d</a:t>
            </a:r>
            <a:r>
              <a:rPr sz="1600" b="0" baseline="30000">
                <a:solidFill>
                  <a:srgbClr val="1F2A33"/>
                </a:solidFill>
                <a:latin typeface="Inter"/>
              </a:rPr>
              <a:t>3</a:t>
            </a:r>
            <a:r>
              <a:rPr sz="1600" b="0">
                <a:solidFill>
                  <a:srgbClr val="1F2A33"/>
                </a:solidFill>
                <a:latin typeface="Inter"/>
              </a:rPr>
              <a:t> операций. Пример: L = 4096, d = 1024, fp32.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15439"/>
            <a:ext cx="5157216" cy="292608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44039"/>
            <a:ext cx="46085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D2622A"/>
                </a:solidFill>
                <a:latin typeface="Inter"/>
              </a:rPr>
              <a:t>≈ 17 МБ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04159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2A33"/>
                </a:solidFill>
                <a:latin typeface="Inter"/>
              </a:rPr>
              <a:t>диагональные якобианы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15639"/>
            <a:ext cx="460857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F2A33"/>
                </a:solidFill>
                <a:latin typeface="Inter"/>
              </a:rPr>
              <a:t>Память L·d, перемножение — d операций, всё считается независимо по каналам. Тот же пример, в 1000 раз меньше.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Параллельная редукция: 3 раунда вместо 8 шагов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440680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sz="1800" b="0">
                <a:solidFill>
                  <a:srgbClr val="1F2A33"/>
                </a:solidFill>
                <a:latin typeface="Inter"/>
              </a:rPr>
              <a:t>Склейка двух кусков — снова шаг вида </a:t>
            </a:r>
            <a:r>
              <a:rPr sz="1800" b="0">
                <a:solidFill>
                  <a:srgbClr val="1F2A33"/>
                </a:solidFill>
                <a:latin typeface="Inter"/>
              </a:rPr>
              <a:t>δ</a:t>
            </a:r>
            <a:r>
              <a:rPr sz="1800" b="0" baseline="-25000">
                <a:solidFill>
                  <a:srgbClr val="1F2A33"/>
                </a:solidFill>
                <a:latin typeface="Inter"/>
              </a:rPr>
              <a:t>t</a:t>
            </a:r>
            <a:r>
              <a:rPr sz="1800" b="0">
                <a:solidFill>
                  <a:srgbClr val="1F2A33"/>
                </a:solidFill>
                <a:latin typeface="Inter"/>
              </a:rPr>
              <a:t> = </a:t>
            </a:r>
            <a:r>
              <a:rPr sz="1800" b="0">
                <a:solidFill>
                  <a:srgbClr val="1F2A33"/>
                </a:solidFill>
                <a:latin typeface="Inter"/>
              </a:rPr>
              <a:t>A</a:t>
            </a:r>
            <a:r>
              <a:rPr sz="1800" b="0" baseline="-25000">
                <a:solidFill>
                  <a:srgbClr val="1F2A33"/>
                </a:solidFill>
                <a:latin typeface="Inter"/>
              </a:rPr>
              <a:t>t</a:t>
            </a:r>
            <a:r>
              <a:rPr sz="1800" b="0">
                <a:solidFill>
                  <a:srgbClr val="1F2A33"/>
                </a:solidFill>
                <a:latin typeface="Inter"/>
              </a:rPr>
              <a:t>·</a:t>
            </a:r>
            <a:r>
              <a:rPr sz="1800" b="0">
                <a:solidFill>
                  <a:srgbClr val="1F2A33"/>
                </a:solidFill>
                <a:latin typeface="Inter"/>
              </a:rPr>
              <a:t>δ</a:t>
            </a:r>
            <a:r>
              <a:rPr sz="1800" b="0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800" b="0">
                <a:solidFill>
                  <a:srgbClr val="1F2A33"/>
                </a:solidFill>
                <a:latin typeface="Inter"/>
              </a:rPr>
              <a:t> + </a:t>
            </a:r>
            <a:r>
              <a:rPr sz="1800" b="0">
                <a:solidFill>
                  <a:srgbClr val="1F2A33"/>
                </a:solidFill>
                <a:latin typeface="Inter"/>
              </a:rPr>
              <a:t>r</a:t>
            </a:r>
            <a:r>
              <a:rPr sz="1800" b="0" baseline="-25000">
                <a:solidFill>
                  <a:srgbClr val="1F2A33"/>
                </a:solidFill>
                <a:latin typeface="Inter"/>
              </a:rPr>
              <a:t>t</a:t>
            </a:r>
            <a:r>
              <a:rPr sz="1800" b="0">
                <a:solidFill>
                  <a:srgbClr val="1F2A33"/>
                </a:solidFill>
                <a:latin typeface="Inter"/>
              </a:rPr>
              <a:t>, поэтому формула одна и та же на всех раундах.</a:t>
            </a:r>
            <a:endParaRPr lang="en-US" sz="1700" dirty="0"/>
          </a:p>
        </p:txBody>
      </p:sp>
      <p:sp>
        <p:nvSpPr>
          <p:cNvPr id="5" name="TextBox 4"/>
          <p:cNvSpPr txBox="1"/>
          <p:nvPr/>
        </p:nvSpPr>
        <p:spPr>
          <a:xfrm>
            <a:off x="812800" y="19659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C6570"/>
                </a:solidFill>
                <a:latin typeface="Inter"/>
              </a:rPr>
              <a:t>старт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834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C6570"/>
                </a:solidFill>
                <a:latin typeface="Inter"/>
              </a:rPr>
              <a:t>раунд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50008" y="227685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916936" y="227685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2350008" y="2276855"/>
            <a:ext cx="566928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10" name="Connector 9"/>
          <p:cNvCxnSpPr/>
          <p:nvPr/>
        </p:nvCxnSpPr>
        <p:spPr>
          <a:xfrm>
            <a:off x="3483864" y="227685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916936" y="2276855"/>
            <a:ext cx="566928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4050792" y="227685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483864" y="2276855"/>
            <a:ext cx="566928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>
            <a:off x="4617720" y="227685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4050792" y="2276855"/>
            <a:ext cx="566928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5184648" y="227685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4617720" y="2276855"/>
            <a:ext cx="566928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5751576" y="227685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5184648" y="2276855"/>
            <a:ext cx="566928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>
            <a:off x="6318504" y="227685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5751576" y="2276855"/>
            <a:ext cx="566928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812800" y="370331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C6570"/>
                </a:solidFill>
                <a:latin typeface="Inter"/>
              </a:rPr>
              <a:t>раунд 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50008" y="314553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2916936" y="314553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3483864" y="314553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2350008" y="3145535"/>
            <a:ext cx="1133856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>
            <a:off x="4050792" y="314553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2916936" y="3145535"/>
            <a:ext cx="1133856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4617720" y="314553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3483864" y="3145535"/>
            <a:ext cx="1133856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5184648" y="314553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4050792" y="3145535"/>
            <a:ext cx="1133856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>
            <a:off x="5751576" y="314553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4617720" y="3145535"/>
            <a:ext cx="1133856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35" name="Connector 34"/>
          <p:cNvCxnSpPr/>
          <p:nvPr/>
        </p:nvCxnSpPr>
        <p:spPr>
          <a:xfrm>
            <a:off x="6318504" y="314553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5184648" y="3145535"/>
            <a:ext cx="1133856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sp>
        <p:nvSpPr>
          <p:cNvPr id="37" name="TextBox 36"/>
          <p:cNvSpPr txBox="1"/>
          <p:nvPr/>
        </p:nvSpPr>
        <p:spPr>
          <a:xfrm>
            <a:off x="812800" y="45719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C6570"/>
                </a:solidFill>
                <a:latin typeface="Inter"/>
              </a:rPr>
              <a:t>раунд 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350008" y="401421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2916936" y="401421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3483864" y="401421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4050792" y="401421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4617720" y="401421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2350008" y="4014215"/>
            <a:ext cx="2267712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44" name="Connector 43"/>
          <p:cNvCxnSpPr/>
          <p:nvPr/>
        </p:nvCxnSpPr>
        <p:spPr>
          <a:xfrm>
            <a:off x="5184648" y="401421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2916936" y="4014215"/>
            <a:ext cx="2267712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46" name="Connector 45"/>
          <p:cNvCxnSpPr/>
          <p:nvPr/>
        </p:nvCxnSpPr>
        <p:spPr>
          <a:xfrm>
            <a:off x="5751576" y="401421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3483864" y="4014215"/>
            <a:ext cx="2267712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cxnSp>
        <p:nvCxnSpPr>
          <p:cNvPr id="48" name="Connector 47"/>
          <p:cNvCxnSpPr/>
          <p:nvPr/>
        </p:nvCxnSpPr>
        <p:spPr>
          <a:xfrm>
            <a:off x="6318504" y="4014215"/>
            <a:ext cx="0" cy="466344"/>
          </a:xfrm>
          <a:prstGeom prst="line">
            <a:avLst/>
          </a:prstGeom>
          <a:ln w="12700">
            <a:solidFill>
              <a:srgbClr val="CFC8B8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4050792" y="4014215"/>
            <a:ext cx="2267712" cy="466344"/>
          </a:xfrm>
          <a:prstGeom prst="line">
            <a:avLst/>
          </a:prstGeom>
          <a:ln w="19050">
            <a:solidFill>
              <a:srgbClr val="D2622A"/>
            </a:solidFill>
            <a:tailEnd type="triangle" w="med" len="med"/>
          </a:ln>
        </p:spPr>
      </p:cxnSp>
      <p:sp>
        <p:nvSpPr>
          <p:cNvPr id="50" name="Oval 49"/>
          <p:cNvSpPr/>
          <p:nvPr/>
        </p:nvSpPr>
        <p:spPr>
          <a:xfrm>
            <a:off x="2148840" y="187451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51" name="Oval 50"/>
          <p:cNvSpPr/>
          <p:nvPr/>
        </p:nvSpPr>
        <p:spPr>
          <a:xfrm>
            <a:off x="2715768" y="187451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52" name="Oval 51"/>
          <p:cNvSpPr/>
          <p:nvPr/>
        </p:nvSpPr>
        <p:spPr>
          <a:xfrm>
            <a:off x="3282696" y="187451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53" name="Oval 52"/>
          <p:cNvSpPr/>
          <p:nvPr/>
        </p:nvSpPr>
        <p:spPr>
          <a:xfrm>
            <a:off x="3849624" y="187451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54" name="Oval 53"/>
          <p:cNvSpPr/>
          <p:nvPr/>
        </p:nvSpPr>
        <p:spPr>
          <a:xfrm>
            <a:off x="4416552" y="187451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55" name="Oval 54"/>
          <p:cNvSpPr/>
          <p:nvPr/>
        </p:nvSpPr>
        <p:spPr>
          <a:xfrm>
            <a:off x="4983480" y="187451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56" name="Oval 55"/>
          <p:cNvSpPr/>
          <p:nvPr/>
        </p:nvSpPr>
        <p:spPr>
          <a:xfrm>
            <a:off x="5550408" y="187451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57" name="Oval 56"/>
          <p:cNvSpPr/>
          <p:nvPr/>
        </p:nvSpPr>
        <p:spPr>
          <a:xfrm>
            <a:off x="6117336" y="187451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58" name="Oval 57"/>
          <p:cNvSpPr/>
          <p:nvPr/>
        </p:nvSpPr>
        <p:spPr>
          <a:xfrm>
            <a:off x="2148840" y="274319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59" name="Oval 58"/>
          <p:cNvSpPr/>
          <p:nvPr/>
        </p:nvSpPr>
        <p:spPr>
          <a:xfrm>
            <a:off x="2715768" y="274319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60" name="Oval 59"/>
          <p:cNvSpPr/>
          <p:nvPr/>
        </p:nvSpPr>
        <p:spPr>
          <a:xfrm>
            <a:off x="3282696" y="274319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61" name="Oval 60"/>
          <p:cNvSpPr/>
          <p:nvPr/>
        </p:nvSpPr>
        <p:spPr>
          <a:xfrm>
            <a:off x="3849624" y="274319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62" name="Oval 61"/>
          <p:cNvSpPr/>
          <p:nvPr/>
        </p:nvSpPr>
        <p:spPr>
          <a:xfrm>
            <a:off x="4416552" y="274319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63" name="Oval 62"/>
          <p:cNvSpPr/>
          <p:nvPr/>
        </p:nvSpPr>
        <p:spPr>
          <a:xfrm>
            <a:off x="4983480" y="274319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64" name="Oval 63"/>
          <p:cNvSpPr/>
          <p:nvPr/>
        </p:nvSpPr>
        <p:spPr>
          <a:xfrm>
            <a:off x="5550408" y="274319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65" name="Oval 64"/>
          <p:cNvSpPr/>
          <p:nvPr/>
        </p:nvSpPr>
        <p:spPr>
          <a:xfrm>
            <a:off x="6117336" y="274319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66" name="Oval 65"/>
          <p:cNvSpPr/>
          <p:nvPr/>
        </p:nvSpPr>
        <p:spPr>
          <a:xfrm>
            <a:off x="2148840" y="361187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67" name="Oval 66"/>
          <p:cNvSpPr/>
          <p:nvPr/>
        </p:nvSpPr>
        <p:spPr>
          <a:xfrm>
            <a:off x="2715768" y="361187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68" name="Oval 67"/>
          <p:cNvSpPr/>
          <p:nvPr/>
        </p:nvSpPr>
        <p:spPr>
          <a:xfrm>
            <a:off x="3282696" y="361187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3</a:t>
            </a:r>
          </a:p>
        </p:txBody>
      </p:sp>
      <p:sp>
        <p:nvSpPr>
          <p:cNvPr id="69" name="Oval 68"/>
          <p:cNvSpPr/>
          <p:nvPr/>
        </p:nvSpPr>
        <p:spPr>
          <a:xfrm>
            <a:off x="3849624" y="3611879"/>
            <a:ext cx="402336" cy="402336"/>
          </a:xfrm>
          <a:prstGeom prst="ellipse">
            <a:avLst/>
          </a:prstGeom>
          <a:solidFill>
            <a:srgbClr val="E9A8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4</a:t>
            </a:r>
          </a:p>
        </p:txBody>
      </p:sp>
      <p:sp>
        <p:nvSpPr>
          <p:cNvPr id="70" name="Oval 69"/>
          <p:cNvSpPr/>
          <p:nvPr/>
        </p:nvSpPr>
        <p:spPr>
          <a:xfrm>
            <a:off x="4416552" y="3611879"/>
            <a:ext cx="402336" cy="402336"/>
          </a:xfrm>
          <a:prstGeom prst="ellipse">
            <a:avLst/>
          </a:prstGeom>
          <a:solidFill>
            <a:srgbClr val="E9A8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4</a:t>
            </a:r>
          </a:p>
        </p:txBody>
      </p:sp>
      <p:sp>
        <p:nvSpPr>
          <p:cNvPr id="71" name="Oval 70"/>
          <p:cNvSpPr/>
          <p:nvPr/>
        </p:nvSpPr>
        <p:spPr>
          <a:xfrm>
            <a:off x="4983480" y="3611879"/>
            <a:ext cx="402336" cy="402336"/>
          </a:xfrm>
          <a:prstGeom prst="ellipse">
            <a:avLst/>
          </a:prstGeom>
          <a:solidFill>
            <a:srgbClr val="E9A8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4</a:t>
            </a:r>
          </a:p>
        </p:txBody>
      </p:sp>
      <p:sp>
        <p:nvSpPr>
          <p:cNvPr id="72" name="Oval 71"/>
          <p:cNvSpPr/>
          <p:nvPr/>
        </p:nvSpPr>
        <p:spPr>
          <a:xfrm>
            <a:off x="5550408" y="3611879"/>
            <a:ext cx="402336" cy="402336"/>
          </a:xfrm>
          <a:prstGeom prst="ellipse">
            <a:avLst/>
          </a:prstGeom>
          <a:solidFill>
            <a:srgbClr val="E9A8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4</a:t>
            </a:r>
          </a:p>
        </p:txBody>
      </p:sp>
      <p:sp>
        <p:nvSpPr>
          <p:cNvPr id="73" name="Oval 72"/>
          <p:cNvSpPr/>
          <p:nvPr/>
        </p:nvSpPr>
        <p:spPr>
          <a:xfrm>
            <a:off x="6117336" y="3611879"/>
            <a:ext cx="402336" cy="402336"/>
          </a:xfrm>
          <a:prstGeom prst="ellipse">
            <a:avLst/>
          </a:prstGeom>
          <a:solidFill>
            <a:srgbClr val="E9A8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4</a:t>
            </a:r>
          </a:p>
        </p:txBody>
      </p:sp>
      <p:sp>
        <p:nvSpPr>
          <p:cNvPr id="74" name="Oval 73"/>
          <p:cNvSpPr/>
          <p:nvPr/>
        </p:nvSpPr>
        <p:spPr>
          <a:xfrm>
            <a:off x="2148840" y="4480559"/>
            <a:ext cx="402336" cy="402336"/>
          </a:xfrm>
          <a:prstGeom prst="ellipse">
            <a:avLst/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1</a:t>
            </a:r>
          </a:p>
        </p:txBody>
      </p:sp>
      <p:sp>
        <p:nvSpPr>
          <p:cNvPr id="75" name="Oval 74"/>
          <p:cNvSpPr/>
          <p:nvPr/>
        </p:nvSpPr>
        <p:spPr>
          <a:xfrm>
            <a:off x="2715768" y="448055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2</a:t>
            </a:r>
          </a:p>
        </p:txBody>
      </p:sp>
      <p:sp>
        <p:nvSpPr>
          <p:cNvPr id="76" name="Oval 75"/>
          <p:cNvSpPr/>
          <p:nvPr/>
        </p:nvSpPr>
        <p:spPr>
          <a:xfrm>
            <a:off x="3282696" y="4480559"/>
            <a:ext cx="402336" cy="402336"/>
          </a:xfrm>
          <a:prstGeom prst="ellipse">
            <a:avLst/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3</a:t>
            </a:r>
          </a:p>
        </p:txBody>
      </p:sp>
      <p:sp>
        <p:nvSpPr>
          <p:cNvPr id="77" name="Oval 76"/>
          <p:cNvSpPr/>
          <p:nvPr/>
        </p:nvSpPr>
        <p:spPr>
          <a:xfrm>
            <a:off x="3849624" y="4480559"/>
            <a:ext cx="402336" cy="402336"/>
          </a:xfrm>
          <a:prstGeom prst="ellipse">
            <a:avLst/>
          </a:prstGeom>
          <a:solidFill>
            <a:srgbClr val="E9A8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4</a:t>
            </a:r>
          </a:p>
        </p:txBody>
      </p:sp>
      <p:sp>
        <p:nvSpPr>
          <p:cNvPr id="78" name="Oval 77"/>
          <p:cNvSpPr/>
          <p:nvPr/>
        </p:nvSpPr>
        <p:spPr>
          <a:xfrm>
            <a:off x="4416552" y="4480559"/>
            <a:ext cx="402336" cy="402336"/>
          </a:xfrm>
          <a:prstGeom prst="ellipse">
            <a:avLst/>
          </a:prstGeom>
          <a:solidFill>
            <a:srgbClr val="E9A8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5</a:t>
            </a:r>
          </a:p>
        </p:txBody>
      </p:sp>
      <p:sp>
        <p:nvSpPr>
          <p:cNvPr id="79" name="Oval 78"/>
          <p:cNvSpPr/>
          <p:nvPr/>
        </p:nvSpPr>
        <p:spPr>
          <a:xfrm>
            <a:off x="4983480" y="4480559"/>
            <a:ext cx="402336" cy="402336"/>
          </a:xfrm>
          <a:prstGeom prst="ellipse">
            <a:avLst/>
          </a:prstGeom>
          <a:solidFill>
            <a:srgbClr val="E9A8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6</a:t>
            </a:r>
          </a:p>
        </p:txBody>
      </p:sp>
      <p:sp>
        <p:nvSpPr>
          <p:cNvPr id="80" name="Oval 79"/>
          <p:cNvSpPr/>
          <p:nvPr/>
        </p:nvSpPr>
        <p:spPr>
          <a:xfrm>
            <a:off x="5550408" y="4480559"/>
            <a:ext cx="402336" cy="402336"/>
          </a:xfrm>
          <a:prstGeom prst="ellipse">
            <a:avLst/>
          </a:prstGeom>
          <a:solidFill>
            <a:srgbClr val="E9A88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F2A33"/>
                </a:solidFill>
                <a:latin typeface="Inter"/>
              </a:rPr>
              <a:t>7</a:t>
            </a:r>
          </a:p>
        </p:txBody>
      </p:sp>
      <p:sp>
        <p:nvSpPr>
          <p:cNvPr id="81" name="Oval 80"/>
          <p:cNvSpPr/>
          <p:nvPr/>
        </p:nvSpPr>
        <p:spPr>
          <a:xfrm>
            <a:off x="6117336" y="4480559"/>
            <a:ext cx="402336" cy="402336"/>
          </a:xfrm>
          <a:prstGeom prst="ellipse">
            <a:avLst/>
          </a:prstGeom>
          <a:solidFill>
            <a:srgbClr val="D2622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040880" y="1615439"/>
            <a:ext cx="4334256" cy="3749039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0" y="1871471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Как читать схему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0" y="2392679"/>
            <a:ext cx="37947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F2A33"/>
                </a:solidFill>
                <a:latin typeface="Inter"/>
              </a:rPr>
              <a:t>Число в кружке — сколько шагов уже склеено в этом месте.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500" b="0">
                <a:solidFill>
                  <a:srgbClr val="1F2A33"/>
                </a:solidFill>
                <a:latin typeface="Inter"/>
              </a:rPr>
              <a:t>Раунд 1: каждый берёт соседа слева. Раунд 2: того, кто на 2 шага левее. Раунд 3: на 4 шага.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500" b="0">
                <a:solidFill>
                  <a:srgbClr val="1F2A33"/>
                </a:solidFill>
                <a:latin typeface="Inter"/>
              </a:rPr>
              <a:t>Охват удваивается, поэтому для длины L хватает log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2</a:t>
            </a:r>
            <a:r>
              <a:rPr sz="1500" b="0">
                <a:solidFill>
                  <a:srgbClr val="1F2A33"/>
                </a:solidFill>
                <a:latin typeface="Inter"/>
              </a:rPr>
              <a:t> L раундов, а все кружки в раунде считаются одновременно.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Обратный проход: проще прямого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812800" y="1615439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F2A33"/>
                </a:solidFill>
                <a:latin typeface="Inter"/>
              </a:rPr>
              <a:t>Прямому проходу нужен Ньютон, потому что ячейка нелинейна по состоянию. Градиенты же зависят от состояния линейно.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621279"/>
            <a:ext cx="10570464" cy="1005840"/>
          </a:xfrm>
          <a:prstGeom prst="roundRect">
            <a:avLst>
              <a:gd name="adj" fmla="val 11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D2622A"/>
                </a:solidFill>
                <a:latin typeface="Inter"/>
              </a:rPr>
              <a:t>∇</a:t>
            </a:r>
            <a:r>
              <a:rPr sz="2600" b="1">
                <a:solidFill>
                  <a:srgbClr val="D2622A"/>
                </a:solidFill>
                <a:latin typeface="Inter"/>
              </a:rPr>
              <a:t>h</a:t>
            </a:r>
            <a:r>
              <a:rPr sz="2600" b="1" baseline="-25000">
                <a:solidFill>
                  <a:srgbClr val="D2622A"/>
                </a:solidFill>
                <a:latin typeface="Inter"/>
              </a:rPr>
              <a:t>prev</a:t>
            </a:r>
            <a:r>
              <a:rPr sz="2600" b="1">
                <a:solidFill>
                  <a:srgbClr val="D2622A"/>
                </a:solidFill>
                <a:latin typeface="Inter"/>
              </a:rPr>
              <a:t> L  =  </a:t>
            </a:r>
            <a:r>
              <a:rPr sz="2600" b="1">
                <a:solidFill>
                  <a:srgbClr val="D2622A"/>
                </a:solidFill>
                <a:latin typeface="Inter"/>
              </a:rPr>
              <a:t>J</a:t>
            </a:r>
            <a:r>
              <a:rPr sz="2600" b="1" baseline="-25000">
                <a:solidFill>
                  <a:srgbClr val="D2622A"/>
                </a:solidFill>
                <a:latin typeface="Inter"/>
              </a:rPr>
              <a:t>t</a:t>
            </a:r>
            <a:r>
              <a:rPr sz="2600" b="1" baseline="30000">
                <a:solidFill>
                  <a:srgbClr val="D2622A"/>
                </a:solidFill>
                <a:latin typeface="Inter"/>
              </a:rPr>
              <a:t>T</a:t>
            </a:r>
            <a:r>
              <a:rPr sz="2600" b="1">
                <a:solidFill>
                  <a:srgbClr val="D2622A"/>
                </a:solidFill>
                <a:latin typeface="Inter"/>
              </a:rPr>
              <a:t> · ∇</a:t>
            </a:r>
            <a:r>
              <a:rPr sz="2600" b="1">
                <a:solidFill>
                  <a:srgbClr val="D2622A"/>
                </a:solidFill>
                <a:latin typeface="Inter"/>
              </a:rPr>
              <a:t>h</a:t>
            </a:r>
            <a:r>
              <a:rPr sz="2600" b="1" baseline="-25000">
                <a:solidFill>
                  <a:srgbClr val="D2622A"/>
                </a:solidFill>
                <a:latin typeface="Inter"/>
              </a:rPr>
              <a:t>next</a:t>
            </a:r>
            <a:r>
              <a:rPr sz="2600" b="1">
                <a:solidFill>
                  <a:srgbClr val="D2622A"/>
                </a:solidFill>
                <a:latin typeface="Inter"/>
              </a:rPr>
              <a:t> L  +  ∂L/∂</a:t>
            </a:r>
            <a:r>
              <a:rPr sz="2600" b="1">
                <a:solidFill>
                  <a:srgbClr val="D2622A"/>
                </a:solidFill>
                <a:latin typeface="Inter"/>
              </a:rPr>
              <a:t>h</a:t>
            </a:r>
            <a:r>
              <a:rPr sz="2600" b="1" baseline="-25000">
                <a:solidFill>
                  <a:srgbClr val="D2622A"/>
                </a:solidFill>
                <a:latin typeface="Inter"/>
              </a:rPr>
              <a:t>prev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3947159"/>
            <a:ext cx="5157216" cy="201168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20" y="4203191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Один проход, без Ньютона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20" y="4724399"/>
            <a:ext cx="46085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Это та же линейная рекуррентность, поэтому годится тот же решатель редукции.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47159"/>
            <a:ext cx="5157216" cy="201168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4203191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Идёт справа налево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724399"/>
            <a:ext cx="460857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Якобианы транспонируют, массив переворачивают и сдвигают. В коде это flip и roll.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GRU: формулы и его якобиан</a:t>
            </a:r>
            <a:endParaRPr lang="en-US" sz="3200" dirty="0"/>
          </a:p>
        </p:txBody>
      </p:sp>
      <p:sp>
        <p:nvSpPr>
          <p:cNvPr id="3" name="Rounded Rectangle 2"/>
          <p:cNvSpPr/>
          <p:nvPr/>
        </p:nvSpPr>
        <p:spPr>
          <a:xfrm>
            <a:off x="812800" y="1615439"/>
            <a:ext cx="5669280" cy="416052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7120" y="1889759"/>
            <a:ext cx="51206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A33"/>
                </a:solidFill>
                <a:latin typeface="Inter"/>
              </a:rPr>
              <a:t>z = σ(</a:t>
            </a:r>
            <a:r>
              <a:rPr sz="1700" b="1">
                <a:solidFill>
                  <a:srgbClr val="1F2A33"/>
                </a:solidFill>
                <a:latin typeface="Inter"/>
              </a:rPr>
              <a:t>A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z</a:t>
            </a:r>
            <a:r>
              <a:rPr sz="1700" b="1">
                <a:solidFill>
                  <a:srgbClr val="1F2A33"/>
                </a:solidFill>
                <a:latin typeface="Inter"/>
              </a:rPr>
              <a:t>·</a:t>
            </a:r>
            <a:r>
              <a:rPr sz="1700" b="1">
                <a:solidFill>
                  <a:srgbClr val="1F2A33"/>
                </a:solidFill>
                <a:latin typeface="Inter"/>
              </a:rPr>
              <a:t>h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700" b="1">
                <a:solidFill>
                  <a:srgbClr val="1F2A33"/>
                </a:solidFill>
                <a:latin typeface="Inter"/>
              </a:rPr>
              <a:t> + </a:t>
            </a:r>
            <a:r>
              <a:rPr sz="1700" b="1">
                <a:solidFill>
                  <a:srgbClr val="1F2A33"/>
                </a:solidFill>
                <a:latin typeface="Inter"/>
              </a:rPr>
              <a:t>B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z</a:t>
            </a:r>
            <a:r>
              <a:rPr sz="1700" b="1">
                <a:solidFill>
                  <a:srgbClr val="1F2A33"/>
                </a:solidFill>
                <a:latin typeface="Inter"/>
              </a:rPr>
              <a:t>·x + </a:t>
            </a:r>
            <a:r>
              <a:rPr sz="1700" b="1">
                <a:solidFill>
                  <a:srgbClr val="1F2A33"/>
                </a:solidFill>
                <a:latin typeface="Inter"/>
              </a:rPr>
              <a:t>b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z</a:t>
            </a:r>
            <a:r>
              <a:rPr sz="1700" b="1">
                <a:solidFill>
                  <a:srgbClr val="1F2A33"/>
                </a:solidFill>
                <a:latin typeface="Inter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5C6570"/>
                </a:solidFill>
                <a:latin typeface="Inter"/>
              </a:rPr>
              <a:t>насколько обновлять состояние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700" b="1">
                <a:solidFill>
                  <a:srgbClr val="1F2A33"/>
                </a:solidFill>
                <a:latin typeface="Inter"/>
              </a:rPr>
              <a:t>r = σ(</a:t>
            </a:r>
            <a:r>
              <a:rPr sz="1700" b="1">
                <a:solidFill>
                  <a:srgbClr val="1F2A33"/>
                </a:solidFill>
                <a:latin typeface="Inter"/>
              </a:rPr>
              <a:t>A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r</a:t>
            </a:r>
            <a:r>
              <a:rPr sz="1700" b="1">
                <a:solidFill>
                  <a:srgbClr val="1F2A33"/>
                </a:solidFill>
                <a:latin typeface="Inter"/>
              </a:rPr>
              <a:t>·</a:t>
            </a:r>
            <a:r>
              <a:rPr sz="1700" b="1">
                <a:solidFill>
                  <a:srgbClr val="1F2A33"/>
                </a:solidFill>
                <a:latin typeface="Inter"/>
              </a:rPr>
              <a:t>h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700" b="1">
                <a:solidFill>
                  <a:srgbClr val="1F2A33"/>
                </a:solidFill>
                <a:latin typeface="Inter"/>
              </a:rPr>
              <a:t> + </a:t>
            </a:r>
            <a:r>
              <a:rPr sz="1700" b="1">
                <a:solidFill>
                  <a:srgbClr val="1F2A33"/>
                </a:solidFill>
                <a:latin typeface="Inter"/>
              </a:rPr>
              <a:t>B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r</a:t>
            </a:r>
            <a:r>
              <a:rPr sz="1700" b="1">
                <a:solidFill>
                  <a:srgbClr val="1F2A33"/>
                </a:solidFill>
                <a:latin typeface="Inter"/>
              </a:rPr>
              <a:t>·x + </a:t>
            </a:r>
            <a:r>
              <a:rPr sz="1700" b="1">
                <a:solidFill>
                  <a:srgbClr val="1F2A33"/>
                </a:solidFill>
                <a:latin typeface="Inter"/>
              </a:rPr>
              <a:t>b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r</a:t>
            </a:r>
            <a:r>
              <a:rPr sz="1700" b="1">
                <a:solidFill>
                  <a:srgbClr val="1F2A33"/>
                </a:solidFill>
                <a:latin typeface="Inter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5C6570"/>
                </a:solidFill>
                <a:latin typeface="Inter"/>
              </a:rPr>
              <a:t>сколько прошлого учитывать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700" b="1">
                <a:solidFill>
                  <a:srgbClr val="1F2A33"/>
                </a:solidFill>
                <a:latin typeface="Inter"/>
              </a:rPr>
              <a:t>c = tanh(</a:t>
            </a:r>
            <a:r>
              <a:rPr sz="1700" b="1">
                <a:solidFill>
                  <a:srgbClr val="1F2A33"/>
                </a:solidFill>
                <a:latin typeface="Inter"/>
              </a:rPr>
              <a:t>A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c</a:t>
            </a:r>
            <a:r>
              <a:rPr sz="1700" b="1">
                <a:solidFill>
                  <a:srgbClr val="1F2A33"/>
                </a:solidFill>
                <a:latin typeface="Inter"/>
              </a:rPr>
              <a:t>·(</a:t>
            </a:r>
            <a:r>
              <a:rPr sz="1700" b="1">
                <a:solidFill>
                  <a:srgbClr val="1F2A33"/>
                </a:solidFill>
                <a:latin typeface="Inter"/>
              </a:rPr>
              <a:t>h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700" b="1">
                <a:solidFill>
                  <a:srgbClr val="1F2A33"/>
                </a:solidFill>
                <a:latin typeface="Inter"/>
              </a:rPr>
              <a:t> ⊙ r) + </a:t>
            </a:r>
            <a:r>
              <a:rPr sz="1700" b="1">
                <a:solidFill>
                  <a:srgbClr val="1F2A33"/>
                </a:solidFill>
                <a:latin typeface="Inter"/>
              </a:rPr>
              <a:t>B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c</a:t>
            </a:r>
            <a:r>
              <a:rPr sz="1700" b="1">
                <a:solidFill>
                  <a:srgbClr val="1F2A33"/>
                </a:solidFill>
                <a:latin typeface="Inter"/>
              </a:rPr>
              <a:t>·x + </a:t>
            </a:r>
            <a:r>
              <a:rPr sz="1700" b="1">
                <a:solidFill>
                  <a:srgbClr val="1F2A33"/>
                </a:solidFill>
                <a:latin typeface="Inter"/>
              </a:rPr>
              <a:t>b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c</a:t>
            </a:r>
            <a:r>
              <a:rPr sz="1700" b="1">
                <a:solidFill>
                  <a:srgbClr val="1F2A33"/>
                </a:solidFill>
                <a:latin typeface="Inter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5C6570"/>
                </a:solidFill>
                <a:latin typeface="Inter"/>
              </a:rPr>
              <a:t>кандидат на новое состояние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700" b="1">
                <a:solidFill>
                  <a:srgbClr val="1F2A33"/>
                </a:solidFill>
                <a:latin typeface="Inter"/>
              </a:rPr>
              <a:t>h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next</a:t>
            </a:r>
            <a:r>
              <a:rPr sz="1700" b="1">
                <a:solidFill>
                  <a:srgbClr val="1F2A33"/>
                </a:solidFill>
                <a:latin typeface="Inter"/>
              </a:rPr>
              <a:t> = (1 − z) ⊙ </a:t>
            </a:r>
            <a:r>
              <a:rPr sz="1700" b="1">
                <a:solidFill>
                  <a:srgbClr val="1F2A33"/>
                </a:solidFill>
                <a:latin typeface="Inter"/>
              </a:rPr>
              <a:t>h</a:t>
            </a:r>
            <a:r>
              <a:rPr sz="1700" b="1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700" b="1">
                <a:solidFill>
                  <a:srgbClr val="1F2A33"/>
                </a:solidFill>
                <a:latin typeface="Inter"/>
              </a:rPr>
              <a:t> + z ⊙ c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5C6570"/>
                </a:solidFill>
                <a:latin typeface="Inter"/>
              </a:rPr>
              <a:t>смесь старого и кандидата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1543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Три пути от </a:t>
            </a:r>
            <a:r>
              <a:rPr sz="1900" b="1">
                <a:solidFill>
                  <a:srgbClr val="D2622A"/>
                </a:solidFill>
                <a:latin typeface="Inter"/>
              </a:rPr>
              <a:t>h</a:t>
            </a:r>
            <a:r>
              <a:rPr sz="1900" b="1" baseline="-25000">
                <a:solidFill>
                  <a:srgbClr val="D2622A"/>
                </a:solidFill>
                <a:latin typeface="Inter"/>
              </a:rPr>
              <a:t>prev</a:t>
            </a:r>
            <a:r>
              <a:rPr sz="1900" b="1">
                <a:solidFill>
                  <a:srgbClr val="D2622A"/>
                </a:solidFill>
                <a:latin typeface="Inter"/>
              </a:rPr>
              <a:t> к </a:t>
            </a:r>
            <a:r>
              <a:rPr sz="1900" b="1">
                <a:solidFill>
                  <a:srgbClr val="D2622A"/>
                </a:solidFill>
                <a:latin typeface="Inter"/>
              </a:rPr>
              <a:t>h</a:t>
            </a:r>
            <a:r>
              <a:rPr sz="1900" b="1" baseline="-25000">
                <a:solidFill>
                  <a:srgbClr val="D2622A"/>
                </a:solidFill>
                <a:latin typeface="Inter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64079"/>
            <a:ext cx="46634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2A33"/>
                </a:solidFill>
                <a:latin typeface="Inter"/>
              </a:rPr>
              <a:t>1. Напрямую: </a:t>
            </a:r>
            <a:r>
              <a:rPr sz="1500" b="0">
                <a:solidFill>
                  <a:srgbClr val="1F2A33"/>
                </a:solidFill>
                <a:latin typeface="Inter"/>
              </a:rPr>
              <a:t>(1 − z). Часть старого просто переходит дальше.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1F2A33"/>
                </a:solidFill>
                <a:latin typeface="Inter"/>
              </a:rPr>
              <a:t>2. Через гейт z: </a:t>
            </a:r>
            <a:r>
              <a:rPr sz="1500" b="0">
                <a:solidFill>
                  <a:srgbClr val="1F2A33"/>
                </a:solidFill>
                <a:latin typeface="Inter"/>
              </a:rPr>
              <a:t>(c − </a:t>
            </a:r>
            <a:r>
              <a:rPr sz="1500" b="0">
                <a:solidFill>
                  <a:srgbClr val="1F2A33"/>
                </a:solidFill>
                <a:latin typeface="Inter"/>
              </a:rPr>
              <a:t>h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500" b="0">
                <a:solidFill>
                  <a:srgbClr val="1F2A33"/>
                </a:solidFill>
                <a:latin typeface="Inter"/>
              </a:rPr>
              <a:t>) · σ</a:t>
            </a:r>
            <a:r>
              <a:rPr sz="1500" b="0" baseline="30000">
                <a:solidFill>
                  <a:srgbClr val="1F2A33"/>
                </a:solidFill>
                <a:latin typeface="Inter"/>
              </a:rPr>
              <a:t>′</a:t>
            </a:r>
            <a:r>
              <a:rPr sz="1500" b="0">
                <a:solidFill>
                  <a:srgbClr val="1F2A33"/>
                </a:solidFill>
                <a:latin typeface="Inter"/>
              </a:rPr>
              <a:t>(z) · </a:t>
            </a:r>
            <a:r>
              <a:rPr sz="1500" b="0">
                <a:solidFill>
                  <a:srgbClr val="1F2A33"/>
                </a:solidFill>
                <a:latin typeface="Inter"/>
              </a:rPr>
              <a:t>A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z</a:t>
            </a:r>
            <a:r>
              <a:rPr sz="1500" b="0">
                <a:solidFill>
                  <a:srgbClr val="1F2A33"/>
                </a:solidFill>
                <a:latin typeface="Inter"/>
              </a:rPr>
              <a:t>. Гейт сам зависит от </a:t>
            </a:r>
            <a:r>
              <a:rPr sz="1500" b="0">
                <a:solidFill>
                  <a:srgbClr val="1F2A33"/>
                </a:solidFill>
                <a:latin typeface="Inter"/>
              </a:rPr>
              <a:t>h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500" b="0">
                <a:solidFill>
                  <a:srgbClr val="1F2A33"/>
                </a:solidFill>
                <a:latin typeface="Inter"/>
              </a:rPr>
              <a:t>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500" b="1">
                <a:solidFill>
                  <a:srgbClr val="1F2A33"/>
                </a:solidFill>
                <a:latin typeface="Inter"/>
              </a:rPr>
              <a:t>3. Через кандидата: </a:t>
            </a:r>
            <a:r>
              <a:rPr sz="1500" b="0">
                <a:solidFill>
                  <a:srgbClr val="1F2A33"/>
                </a:solidFill>
                <a:latin typeface="Inter"/>
              </a:rPr>
              <a:t>z · σ</a:t>
            </a:r>
            <a:r>
              <a:rPr sz="1500" b="0" baseline="30000">
                <a:solidFill>
                  <a:srgbClr val="1F2A33"/>
                </a:solidFill>
                <a:latin typeface="Inter"/>
              </a:rPr>
              <a:t>′</a:t>
            </a:r>
            <a:r>
              <a:rPr sz="1500" b="0">
                <a:solidFill>
                  <a:srgbClr val="1F2A33"/>
                </a:solidFill>
                <a:latin typeface="Inter"/>
              </a:rPr>
              <a:t>(c) · </a:t>
            </a:r>
            <a:r>
              <a:rPr sz="1500" b="0">
                <a:solidFill>
                  <a:srgbClr val="1F2A33"/>
                </a:solidFill>
                <a:latin typeface="Inter"/>
              </a:rPr>
              <a:t>A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c</a:t>
            </a:r>
            <a:r>
              <a:rPr sz="1500" b="0">
                <a:solidFill>
                  <a:srgbClr val="1F2A33"/>
                </a:solidFill>
                <a:latin typeface="Inter"/>
              </a:rPr>
              <a:t> · (r + </a:t>
            </a:r>
            <a:r>
              <a:rPr sz="1500" b="0">
                <a:solidFill>
                  <a:srgbClr val="1F2A33"/>
                </a:solidFill>
                <a:latin typeface="Inter"/>
              </a:rPr>
              <a:t>h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500" b="0">
                <a:solidFill>
                  <a:srgbClr val="1F2A33"/>
                </a:solidFill>
                <a:latin typeface="Inter"/>
              </a:rPr>
              <a:t> · σ</a:t>
            </a:r>
            <a:r>
              <a:rPr sz="1500" b="0" baseline="30000">
                <a:solidFill>
                  <a:srgbClr val="1F2A33"/>
                </a:solidFill>
                <a:latin typeface="Inter"/>
              </a:rPr>
              <a:t>′</a:t>
            </a:r>
            <a:r>
              <a:rPr sz="1500" b="0">
                <a:solidFill>
                  <a:srgbClr val="1F2A33"/>
                </a:solidFill>
                <a:latin typeface="Inter"/>
              </a:rPr>
              <a:t>(r) · </a:t>
            </a:r>
            <a:r>
              <a:rPr sz="1500" b="0">
                <a:solidFill>
                  <a:srgbClr val="1F2A33"/>
                </a:solidFill>
                <a:latin typeface="Inter"/>
              </a:rPr>
              <a:t>A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r</a:t>
            </a:r>
            <a:r>
              <a:rPr sz="1500" b="0">
                <a:solidFill>
                  <a:srgbClr val="1F2A33"/>
                </a:solidFill>
                <a:latin typeface="Inter"/>
              </a:rPr>
              <a:t>). Здесь ещё и гейт 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4678679"/>
            <a:ext cx="4663440" cy="18288"/>
          </a:xfrm>
          <a:prstGeom prst="rect">
            <a:avLst/>
          </a:prstGeom>
          <a:solidFill>
            <a:srgbClr val="CFC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4815839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C6570"/>
                </a:solidFill>
                <a:latin typeface="Inter"/>
              </a:rPr>
              <a:t>Если A диагональные, все три слагаемых — векторы, и J тоже вектор. В коде берут −J: система записана как h − f(h).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LSTM: состояние из двух частей</a:t>
            </a:r>
            <a:endParaRPr lang="en-US" sz="3200" dirty="0"/>
          </a:p>
        </p:txBody>
      </p:sp>
      <p:sp>
        <p:nvSpPr>
          <p:cNvPr id="3" name="Rounded Rectangle 2"/>
          <p:cNvSpPr/>
          <p:nvPr/>
        </p:nvSpPr>
        <p:spPr>
          <a:xfrm>
            <a:off x="812800" y="1615439"/>
            <a:ext cx="5669280" cy="416052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7120" y="1889759"/>
            <a:ext cx="51206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2A33"/>
                </a:solidFill>
                <a:latin typeface="Inter"/>
              </a:rPr>
              <a:t>f = σ(</a:t>
            </a:r>
            <a:r>
              <a:rPr sz="1600" b="1">
                <a:solidFill>
                  <a:srgbClr val="1F2A33"/>
                </a:solidFill>
                <a:latin typeface="Inter"/>
              </a:rPr>
              <a:t>A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f</a:t>
            </a:r>
            <a:r>
              <a:rPr sz="1600" b="1">
                <a:solidFill>
                  <a:srgbClr val="1F2A33"/>
                </a:solidFill>
                <a:latin typeface="Inter"/>
              </a:rPr>
              <a:t>·</a:t>
            </a:r>
            <a:r>
              <a:rPr sz="1600" b="1">
                <a:solidFill>
                  <a:srgbClr val="1F2A33"/>
                </a:solidFill>
                <a:latin typeface="Inter"/>
              </a:rPr>
              <a:t>h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600" b="1">
                <a:solidFill>
                  <a:srgbClr val="1F2A33"/>
                </a:solidFill>
                <a:latin typeface="Inter"/>
              </a:rPr>
              <a:t> + </a:t>
            </a:r>
            <a:r>
              <a:rPr sz="1600" b="1">
                <a:solidFill>
                  <a:srgbClr val="1F2A33"/>
                </a:solidFill>
                <a:latin typeface="Inter"/>
              </a:rPr>
              <a:t>B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f</a:t>
            </a:r>
            <a:r>
              <a:rPr sz="1600" b="1">
                <a:solidFill>
                  <a:srgbClr val="1F2A33"/>
                </a:solidFill>
                <a:latin typeface="Inter"/>
              </a:rPr>
              <a:t>·x + </a:t>
            </a:r>
            <a:r>
              <a:rPr sz="1600" b="1">
                <a:solidFill>
                  <a:srgbClr val="1F2A33"/>
                </a:solidFill>
                <a:latin typeface="Inter"/>
              </a:rPr>
              <a:t>C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f</a:t>
            </a:r>
            <a:r>
              <a:rPr sz="1600" b="1">
                <a:solidFill>
                  <a:srgbClr val="1F2A33"/>
                </a:solidFill>
                <a:latin typeface="Inter"/>
              </a:rPr>
              <a:t>·</a:t>
            </a:r>
            <a:r>
              <a:rPr sz="1600" b="1">
                <a:solidFill>
                  <a:srgbClr val="1F2A33"/>
                </a:solidFill>
                <a:latin typeface="Inter"/>
              </a:rPr>
              <a:t>c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600" b="1">
                <a:solidFill>
                  <a:srgbClr val="1F2A33"/>
                </a:solidFill>
                <a:latin typeface="Inter"/>
              </a:rPr>
              <a:t> + </a:t>
            </a:r>
            <a:r>
              <a:rPr sz="1600" b="1">
                <a:solidFill>
                  <a:srgbClr val="1F2A33"/>
                </a:solidFill>
                <a:latin typeface="Inter"/>
              </a:rPr>
              <a:t>b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f</a:t>
            </a:r>
            <a:r>
              <a:rPr sz="1600" b="1">
                <a:solidFill>
                  <a:srgbClr val="1F2A33"/>
                </a:solidFill>
                <a:latin typeface="Inter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5C6570"/>
                </a:solidFill>
                <a:latin typeface="Inter"/>
              </a:rPr>
              <a:t>забывание; ворота «подглядывают» в </a:t>
            </a:r>
            <a:r>
              <a:rPr sz="1400" b="0">
                <a:solidFill>
                  <a:srgbClr val="5C6570"/>
                </a:solidFill>
                <a:latin typeface="Inter"/>
              </a:rPr>
              <a:t>c</a:t>
            </a:r>
            <a:r>
              <a:rPr sz="1400" b="0" baseline="-25000">
                <a:solidFill>
                  <a:srgbClr val="5C6570"/>
                </a:solidFill>
                <a:latin typeface="Inter"/>
              </a:rPr>
              <a:t>prev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600" b="1">
                <a:solidFill>
                  <a:srgbClr val="1F2A33"/>
                </a:solidFill>
                <a:latin typeface="Inter"/>
              </a:rPr>
              <a:t>c = f ⊙ </a:t>
            </a:r>
            <a:r>
              <a:rPr sz="1600" b="1">
                <a:solidFill>
                  <a:srgbClr val="1F2A33"/>
                </a:solidFill>
                <a:latin typeface="Inter"/>
              </a:rPr>
              <a:t>c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600" b="1">
                <a:solidFill>
                  <a:srgbClr val="1F2A33"/>
                </a:solidFill>
                <a:latin typeface="Inter"/>
              </a:rPr>
              <a:t> + (1 − f) ⊙ z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5C6570"/>
                </a:solidFill>
                <a:latin typeface="Inter"/>
              </a:rPr>
              <a:t>новое c; z — кандидат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600" b="1">
                <a:solidFill>
                  <a:srgbClr val="1F2A33"/>
                </a:solidFill>
                <a:latin typeface="Inter"/>
              </a:rPr>
              <a:t>o = σ(</a:t>
            </a:r>
            <a:r>
              <a:rPr sz="1600" b="1">
                <a:solidFill>
                  <a:srgbClr val="1F2A33"/>
                </a:solidFill>
                <a:latin typeface="Inter"/>
              </a:rPr>
              <a:t>A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o</a:t>
            </a:r>
            <a:r>
              <a:rPr sz="1600" b="1">
                <a:solidFill>
                  <a:srgbClr val="1F2A33"/>
                </a:solidFill>
                <a:latin typeface="Inter"/>
              </a:rPr>
              <a:t>·</a:t>
            </a:r>
            <a:r>
              <a:rPr sz="1600" b="1">
                <a:solidFill>
                  <a:srgbClr val="1F2A33"/>
                </a:solidFill>
                <a:latin typeface="Inter"/>
              </a:rPr>
              <a:t>h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prev</a:t>
            </a:r>
            <a:r>
              <a:rPr sz="1600" b="1">
                <a:solidFill>
                  <a:srgbClr val="1F2A33"/>
                </a:solidFill>
                <a:latin typeface="Inter"/>
              </a:rPr>
              <a:t> + </a:t>
            </a:r>
            <a:r>
              <a:rPr sz="1600" b="1">
                <a:solidFill>
                  <a:srgbClr val="1F2A33"/>
                </a:solidFill>
                <a:latin typeface="Inter"/>
              </a:rPr>
              <a:t>B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o</a:t>
            </a:r>
            <a:r>
              <a:rPr sz="1600" b="1">
                <a:solidFill>
                  <a:srgbClr val="1F2A33"/>
                </a:solidFill>
                <a:latin typeface="Inter"/>
              </a:rPr>
              <a:t>·x + </a:t>
            </a:r>
            <a:r>
              <a:rPr sz="1600" b="1">
                <a:solidFill>
                  <a:srgbClr val="1F2A33"/>
                </a:solidFill>
                <a:latin typeface="Inter"/>
              </a:rPr>
              <a:t>C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o</a:t>
            </a:r>
            <a:r>
              <a:rPr sz="1600" b="1">
                <a:solidFill>
                  <a:srgbClr val="1F2A33"/>
                </a:solidFill>
                <a:latin typeface="Inter"/>
              </a:rPr>
              <a:t>·c + </a:t>
            </a:r>
            <a:r>
              <a:rPr sz="1600" b="1">
                <a:solidFill>
                  <a:srgbClr val="1F2A33"/>
                </a:solidFill>
                <a:latin typeface="Inter"/>
              </a:rPr>
              <a:t>b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o</a:t>
            </a:r>
            <a:r>
              <a:rPr sz="1600" b="1">
                <a:solidFill>
                  <a:srgbClr val="1F2A33"/>
                </a:solidFill>
                <a:latin typeface="Inter"/>
              </a:rPr>
              <a:t>)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5C6570"/>
                </a:solidFill>
                <a:latin typeface="Inter"/>
              </a:rPr>
              <a:t>выходные ворота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600" b="1">
                <a:solidFill>
                  <a:srgbClr val="1F2A33"/>
                </a:solidFill>
                <a:latin typeface="Inter"/>
              </a:rPr>
              <a:t>h</a:t>
            </a:r>
            <a:r>
              <a:rPr sz="1600" b="1" baseline="-25000">
                <a:solidFill>
                  <a:srgbClr val="1F2A33"/>
                </a:solidFill>
                <a:latin typeface="Inter"/>
              </a:rPr>
              <a:t>next</a:t>
            </a:r>
            <a:r>
              <a:rPr sz="1600" b="1">
                <a:solidFill>
                  <a:srgbClr val="1F2A33"/>
                </a:solidFill>
                <a:latin typeface="Inter"/>
              </a:rPr>
              <a:t> = o ⊙ tanh(c)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400" b="0">
                <a:solidFill>
                  <a:srgbClr val="5C6570"/>
                </a:solidFill>
                <a:latin typeface="Inter"/>
              </a:rPr>
              <a:t>выход ячейки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1543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Якобиан — блок 2 ×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2164079"/>
            <a:ext cx="731520" cy="731520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J</a:t>
            </a:r>
            <a:r>
              <a:rPr sz="1500" b="1" baseline="-25000">
                <a:solidFill>
                  <a:srgbClr val="FFFFFF"/>
                </a:solidFill>
                <a:latin typeface="Inter"/>
              </a:rPr>
              <a:t>cc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164079"/>
            <a:ext cx="731520" cy="731520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2A33"/>
                </a:solidFill>
                <a:latin typeface="Inter"/>
              </a:rPr>
              <a:t>J</a:t>
            </a:r>
            <a:r>
              <a:rPr sz="1500" b="1" baseline="-25000">
                <a:solidFill>
                  <a:srgbClr val="1F2A33"/>
                </a:solidFill>
                <a:latin typeface="Inter"/>
              </a:rPr>
              <a:t>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895599"/>
            <a:ext cx="731520" cy="731520"/>
          </a:xfrm>
          <a:prstGeom prst="rect">
            <a:avLst/>
          </a:prstGeom>
          <a:solidFill>
            <a:srgbClr val="E9A883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F2A33"/>
                </a:solidFill>
                <a:latin typeface="Inter"/>
              </a:rPr>
              <a:t>J</a:t>
            </a:r>
            <a:r>
              <a:rPr sz="1500" b="1" baseline="-25000">
                <a:solidFill>
                  <a:srgbClr val="1F2A33"/>
                </a:solidFill>
                <a:latin typeface="Inter"/>
              </a:rPr>
              <a:t>hc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895599"/>
            <a:ext cx="731520" cy="731520"/>
          </a:xfrm>
          <a:prstGeom prst="rect">
            <a:avLst/>
          </a:prstGeom>
          <a:solidFill>
            <a:srgbClr val="D2622A"/>
          </a:solidFill>
          <a:ln w="19050">
            <a:solidFill>
              <a:srgbClr val="F7F5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"/>
              </a:rPr>
              <a:t>J</a:t>
            </a:r>
            <a:r>
              <a:rPr sz="1500" b="1" baseline="-25000">
                <a:solidFill>
                  <a:srgbClr val="FFFFFF"/>
                </a:solidFill>
                <a:latin typeface="Inter"/>
              </a:rPr>
              <a:t>hh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64079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C6570"/>
                </a:solidFill>
                <a:latin typeface="Inter"/>
              </a:rPr>
              <a:t>Состояние — пара (c, h). Каждый блок сам диагональный: на каждый канал приходится своя матрица 2 ×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901439"/>
            <a:ext cx="4663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33"/>
                </a:solidFill>
                <a:latin typeface="Inter"/>
              </a:rPr>
              <a:t>J</a:t>
            </a:r>
            <a:r>
              <a:rPr sz="1500" b="1" baseline="-25000">
                <a:solidFill>
                  <a:srgbClr val="1F2A33"/>
                </a:solidFill>
                <a:latin typeface="Inter"/>
              </a:rPr>
              <a:t>cc</a:t>
            </a:r>
            <a:r>
              <a:rPr sz="1500" b="1">
                <a:solidFill>
                  <a:srgbClr val="1F2A33"/>
                </a:solidFill>
                <a:latin typeface="Inter"/>
              </a:rPr>
              <a:t>, </a:t>
            </a:r>
            <a:r>
              <a:rPr sz="1500" b="1">
                <a:solidFill>
                  <a:srgbClr val="1F2A33"/>
                </a:solidFill>
                <a:latin typeface="Inter"/>
              </a:rPr>
              <a:t>J</a:t>
            </a:r>
            <a:r>
              <a:rPr sz="1500" b="1" baseline="-25000">
                <a:solidFill>
                  <a:srgbClr val="1F2A33"/>
                </a:solidFill>
                <a:latin typeface="Inter"/>
              </a:rPr>
              <a:t>ch</a:t>
            </a:r>
            <a:r>
              <a:rPr sz="1500" b="0">
                <a:solidFill>
                  <a:srgbClr val="1F2A33"/>
                </a:solidFill>
                <a:latin typeface="Inter"/>
              </a:rPr>
              <a:t>: как прошлые c и h влияют на новое c.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500" b="1">
                <a:solidFill>
                  <a:srgbClr val="1F2A33"/>
                </a:solidFill>
                <a:latin typeface="Inter"/>
              </a:rPr>
              <a:t>J</a:t>
            </a:r>
            <a:r>
              <a:rPr sz="1500" b="1" baseline="-25000">
                <a:solidFill>
                  <a:srgbClr val="1F2A33"/>
                </a:solidFill>
                <a:latin typeface="Inter"/>
              </a:rPr>
              <a:t>hc</a:t>
            </a:r>
            <a:r>
              <a:rPr sz="1500" b="1">
                <a:solidFill>
                  <a:srgbClr val="1F2A33"/>
                </a:solidFill>
                <a:latin typeface="Inter"/>
              </a:rPr>
              <a:t>, </a:t>
            </a:r>
            <a:r>
              <a:rPr sz="1500" b="1">
                <a:solidFill>
                  <a:srgbClr val="1F2A33"/>
                </a:solidFill>
                <a:latin typeface="Inter"/>
              </a:rPr>
              <a:t>J</a:t>
            </a:r>
            <a:r>
              <a:rPr sz="1500" b="1" baseline="-25000">
                <a:solidFill>
                  <a:srgbClr val="1F2A33"/>
                </a:solidFill>
                <a:latin typeface="Inter"/>
              </a:rPr>
              <a:t>hh</a:t>
            </a:r>
            <a:r>
              <a:rPr sz="1500" b="0">
                <a:solidFill>
                  <a:srgbClr val="1F2A33"/>
                </a:solidFill>
                <a:latin typeface="Inter"/>
              </a:rPr>
              <a:t>: h берётся из нового c, поэтому эти блоки строятся через </a:t>
            </a:r>
            <a:r>
              <a:rPr sz="1500" b="0">
                <a:solidFill>
                  <a:srgbClr val="1F2A33"/>
                </a:solidFill>
                <a:latin typeface="Inter"/>
              </a:rPr>
              <a:t>J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cc</a:t>
            </a:r>
            <a:r>
              <a:rPr sz="1500" b="0">
                <a:solidFill>
                  <a:srgbClr val="1F2A33"/>
                </a:solidFill>
                <a:latin typeface="Inter"/>
              </a:rPr>
              <a:t> и </a:t>
            </a:r>
            <a:r>
              <a:rPr sz="1500" b="0">
                <a:solidFill>
                  <a:srgbClr val="1F2A33"/>
                </a:solidFill>
                <a:latin typeface="Inter"/>
              </a:rPr>
              <a:t>J</a:t>
            </a:r>
            <a:r>
              <a:rPr sz="1500" b="0" baseline="-25000">
                <a:solidFill>
                  <a:srgbClr val="1F2A33"/>
                </a:solidFill>
                <a:latin typeface="Inter"/>
              </a:rPr>
              <a:t>ch</a:t>
            </a:r>
            <a:r>
              <a:rPr sz="1500" b="0">
                <a:solidFill>
                  <a:srgbClr val="1F2A33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Диагональ: что теряем и чем платим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166360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Идея статьи: не приближать якобиан, а подогнать сам модельный блок под дешёвый и точный якобиан.</a:t>
            </a:r>
            <a:endParaRPr lang="en-US" sz="1700" dirty="0"/>
          </a:p>
        </p:txBody>
      </p:sp>
      <p:sp>
        <p:nvSpPr>
          <p:cNvPr id="5" name="Rounded Rectangle 4"/>
          <p:cNvSpPr/>
          <p:nvPr/>
        </p:nvSpPr>
        <p:spPr>
          <a:xfrm>
            <a:off x="812800" y="1615439"/>
            <a:ext cx="5157216" cy="18288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20" y="1871471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Что теряем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20" y="2392679"/>
            <a:ext cx="46085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Внутри ячейки каналы не смешиваются: каждое число состояния видит только своё прошлое. Как в Mamba.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15439"/>
            <a:ext cx="5157216" cy="18288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1471"/>
            <a:ext cx="4608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Как компенсируют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92679"/>
            <a:ext cx="46085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Смешивание делают матрицы входа B (блочные, по головам), свёртки и MLP между слоями.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718559"/>
            <a:ext cx="10826496" cy="141732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7120" y="3947159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D2622A"/>
                </a:solidFill>
                <a:latin typeface="Inter"/>
              </a:rPr>
              <a:t>Другой путь (Gonzalez и др., 2024): </a:t>
            </a:r>
            <a:r>
              <a:rPr sz="1500" b="0">
                <a:solidFill>
                  <a:srgbClr val="1F2A33"/>
                </a:solidFill>
                <a:latin typeface="Inter"/>
              </a:rPr>
              <a:t>оставить полную ячейку и взять только диагональ её якобиана. Тогда Ньютон приближённый. ParaRNN меняет ячейку, и якобиан получается точным.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этим пользоваться: три реализации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166360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Пользователь пишет только шаг ячейки f(h, x). Якобианы и параллельный решатель фреймворк собирает сам.</a:t>
            </a:r>
            <a:endParaRPr lang="en-US" sz="1700" dirty="0"/>
          </a:p>
        </p:txBody>
      </p:sp>
      <p:sp>
        <p:nvSpPr>
          <p:cNvPr id="5" name="Rounded Rectangle 4"/>
          <p:cNvSpPr/>
          <p:nvPr/>
        </p:nvSpPr>
        <p:spPr>
          <a:xfrm>
            <a:off x="812800" y="1615439"/>
            <a:ext cx="3383280" cy="32004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20" y="187147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parallel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20" y="2392679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Только PyTorch. Для отладки и проб новых ячеек. Самый медленный из трёх.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34408" y="1615439"/>
            <a:ext cx="3383280" cy="32004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8728" y="187147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parallel_CUDA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8728" y="2392679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Решатель редукции на CUDA, якобианы собирает autograd. Градиенты считаются автоматически.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6016" y="1615439"/>
            <a:ext cx="3383280" cy="32004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0336" y="187147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parallel_FUSED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0336" y="2392679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Весь Ньютон в одном CUDA-ядре. Быстрее всех, но формулы якобианов нужно дать вручную.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нужно для сходимости, и чего нет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166360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новой ячейки сходимость Ньютона нужно проверять отдельно: гарантии «за 3 шага» нет.</a:t>
            </a:r>
            <a:endParaRPr lang="en-US" sz="1700" dirty="0"/>
          </a:p>
        </p:txBody>
      </p:sp>
      <p:sp>
        <p:nvSpPr>
          <p:cNvPr id="5" name="Rounded Rectangle 4"/>
          <p:cNvSpPr/>
          <p:nvPr/>
        </p:nvSpPr>
        <p:spPr>
          <a:xfrm>
            <a:off x="812800" y="1615439"/>
            <a:ext cx="3383280" cy="32004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20" y="187147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Начальная догадка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20" y="2392679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h</a:t>
            </a:r>
            <a:r>
              <a:rPr sz="1700" b="0" baseline="30000">
                <a:solidFill>
                  <a:srgbClr val="1F2A33"/>
                </a:solidFill>
                <a:latin typeface="Inter"/>
              </a:rPr>
              <a:t>0</a:t>
            </a:r>
            <a:r>
              <a:rPr sz="1700" b="0" baseline="-25000">
                <a:solidFill>
                  <a:srgbClr val="1F2A33"/>
                </a:solidFill>
                <a:latin typeface="Inter"/>
              </a:rPr>
              <a:t>t</a:t>
            </a:r>
            <a:r>
              <a:rPr sz="1700" b="0">
                <a:solidFill>
                  <a:srgbClr val="1F2A33"/>
                </a:solidFill>
                <a:latin typeface="Inter"/>
              </a:rPr>
              <a:t> = f(0, </a:t>
            </a:r>
            <a:r>
              <a:rPr sz="1700" b="0">
                <a:solidFill>
                  <a:srgbClr val="1F2A33"/>
                </a:solidFill>
                <a:latin typeface="Inter"/>
              </a:rPr>
              <a:t>x</a:t>
            </a:r>
            <a:r>
              <a:rPr sz="1700" b="0" baseline="-25000">
                <a:solidFill>
                  <a:srgbClr val="1F2A33"/>
                </a:solidFill>
                <a:latin typeface="Inter"/>
              </a:rPr>
              <a:t>t</a:t>
            </a:r>
            <a:r>
              <a:rPr sz="1700" b="0">
                <a:solidFill>
                  <a:srgbClr val="1F2A33"/>
                </a:solidFill>
                <a:latin typeface="Inter"/>
              </a:rPr>
              <a:t>): ячейка с нулевым прошлым. Считается параллельно, одним проходом.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34408" y="1615439"/>
            <a:ext cx="3383280" cy="32004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8728" y="187147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Сколько итераций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8728" y="2392679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Теория: до L, и тогда выигрыша нет. На практике 3–4: на старте обучения и после него.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6016" y="1615439"/>
            <a:ext cx="3383280" cy="32004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0336" y="187147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D2622A"/>
                </a:solidFill>
                <a:latin typeface="Inter"/>
              </a:rPr>
              <a:t>Цена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0336" y="2392679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F2A33"/>
                </a:solidFill>
                <a:latin typeface="Inter"/>
              </a:rPr>
              <a:t>Каждая итерация собирает якобианы и делает редукцию. Это лишняя работа, но глубина растёт как log 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ячейку встраивают в языковую модель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4709160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Берут Transformer DCLM, заменяют внимание на RNN-слой. Размеры: 400M, 1B, 2.9B и 7B параметров.</a:t>
            </a:r>
            <a:endParaRPr lang="en-US" sz="1700" dirty="0"/>
          </a:p>
        </p:txBody>
      </p:sp>
      <p:sp>
        <p:nvSpPr>
          <p:cNvPr id="5" name="Rounded Rectangle 4"/>
          <p:cNvSpPr/>
          <p:nvPr/>
        </p:nvSpPr>
        <p:spPr>
          <a:xfrm>
            <a:off x="812800" y="2072639"/>
            <a:ext cx="1097280" cy="1005840"/>
          </a:xfrm>
          <a:prstGeom prst="roundRect">
            <a:avLst>
              <a:gd name="adj" fmla="val 12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F2A33"/>
                </a:solidFill>
                <a:latin typeface="Inter"/>
              </a:rPr>
              <a:t>токены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5698" y="2072639"/>
            <a:ext cx="1280160" cy="1005840"/>
          </a:xfrm>
          <a:prstGeom prst="roundRect">
            <a:avLst>
              <a:gd name="adj" fmla="val 12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F2A33"/>
                </a:solidFill>
                <a:latin typeface="Inter"/>
              </a:rPr>
              <a:t>эмбеддинг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46656" y="2575559"/>
            <a:ext cx="262466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3861476" y="2072639"/>
            <a:ext cx="1188720" cy="1005840"/>
          </a:xfrm>
          <a:prstGeom prst="roundRect">
            <a:avLst>
              <a:gd name="adj" fmla="val 12000"/>
            </a:avLst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F2A33"/>
                </a:solidFill>
                <a:latin typeface="Inter"/>
              </a:rPr>
              <a:t>свёртка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2434" y="2575559"/>
            <a:ext cx="262466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5385814" y="2072639"/>
            <a:ext cx="2286000" cy="1005840"/>
          </a:xfrm>
          <a:prstGeom prst="roundRect">
            <a:avLst>
              <a:gd name="adj" fmla="val 12000"/>
            </a:avLst>
          </a:prstGeom>
          <a:solidFill>
            <a:srgbClr val="D2622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ячейка
ParaGRU / ParaLSTM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86772" y="2575559"/>
            <a:ext cx="262466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8007432" y="2072639"/>
            <a:ext cx="1005840" cy="1005840"/>
          </a:xfrm>
          <a:prstGeom prst="roundRect">
            <a:avLst>
              <a:gd name="adj" fmla="val 12000"/>
            </a:avLst>
          </a:prstGeom>
          <a:solidFill>
            <a:srgbClr val="F2CDB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F2A33"/>
                </a:solidFill>
                <a:latin typeface="Inter"/>
              </a:rPr>
              <a:t>гейт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08390" y="2575559"/>
            <a:ext cx="262466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9348890" y="2072639"/>
            <a:ext cx="1005840" cy="1005840"/>
          </a:xfrm>
          <a:prstGeom prst="roundRect">
            <a:avLst>
              <a:gd name="adj" fmla="val 12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F2A33"/>
                </a:solidFill>
                <a:latin typeface="Inter"/>
              </a:rPr>
              <a:t>MLP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49848" y="2575559"/>
            <a:ext cx="262466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10690348" y="2072639"/>
            <a:ext cx="1005840" cy="1005840"/>
          </a:xfrm>
          <a:prstGeom prst="roundRect">
            <a:avLst>
              <a:gd name="adj" fmla="val 12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F2A33"/>
                </a:solidFill>
                <a:latin typeface="Inter"/>
              </a:rPr>
              <a:t>выход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91306" y="2575559"/>
            <a:ext cx="262466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812800" y="3398519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33"/>
                </a:solidFill>
                <a:latin typeface="Inter"/>
              </a:rPr>
              <a:t>Блок «свёртка → ячейка → гейт» повторяется N раз, это упрощённая схема. Свёртку и гейт авторы взяли из Mamba.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500" b="0">
                <a:solidFill>
                  <a:srgbClr val="1F2A33"/>
                </a:solidFill>
                <a:latin typeface="Inter"/>
              </a:rPr>
              <a:t>Обучали на одном корпусе, объём данных подбирали по правилу Chinchilla.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показала статья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4754880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 авторов. k-hop: нелинейные ячейки 100%, Mamba2 98%, Transformer 78%. В MQAR все 100%.</a:t>
            </a:r>
            <a:endParaRPr lang="en-US" sz="1700" dirty="0"/>
          </a:p>
        </p:txBody>
      </p:sp>
      <p:sp>
        <p:nvSpPr>
          <p:cNvPr id="5" name="Rounded Rectangle 4"/>
          <p:cNvSpPr/>
          <p:nvPr/>
        </p:nvSpPr>
        <p:spPr>
          <a:xfrm>
            <a:off x="812800" y="1615439"/>
            <a:ext cx="3383280" cy="27432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7120" y="1844039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D2622A"/>
                </a:solidFill>
                <a:latin typeface="Inter"/>
              </a:rPr>
              <a:t>до 665×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7120" y="280415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2A33"/>
                </a:solidFill>
                <a:latin typeface="Inter"/>
              </a:rPr>
              <a:t>быстрее цикла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7120" y="3215639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F2A33"/>
                </a:solidFill>
                <a:latin typeface="Inter"/>
              </a:rPr>
              <a:t>Полное параллельное применение ячейки, длина 512. Для двух ячеек: 447× и 665×.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4408" y="1615439"/>
            <a:ext cx="3383280" cy="27432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8728" y="1844039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D2622A"/>
                </a:solidFill>
                <a:latin typeface="Inter"/>
              </a:rPr>
              <a:t>35–37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8728" y="280415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2A33"/>
                </a:solidFill>
                <a:latin typeface="Inter"/>
              </a:rPr>
              <a:t>токенов в секунду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8728" y="3215639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F2A33"/>
                </a:solidFill>
                <a:latin typeface="Inter"/>
              </a:rPr>
              <a:t>Генерация у ParaGRU и ParaLSTM, у Mamba около 27. Не замедляется с длиной.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6016" y="1615439"/>
            <a:ext cx="3383280" cy="2743200"/>
          </a:xfrm>
          <a:prstGeom prst="roundRect">
            <a:avLst>
              <a:gd name="adj" fmla="val 7000"/>
            </a:avLst>
          </a:prstGeom>
          <a:solidFill>
            <a:srgbClr val="ECE7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0336" y="1844039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D2622A"/>
                </a:solidFill>
                <a:latin typeface="Inter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0336" y="280415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F2A33"/>
                </a:solidFill>
                <a:latin typeface="Inter"/>
              </a:rPr>
              <a:t>на чётности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0336" y="3215639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F2A33"/>
                </a:solidFill>
                <a:latin typeface="Inter"/>
              </a:rPr>
              <a:t>Нелинейные ячейки решают задачу. Mamba2 около 51%, Transformer 53%.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Приложение: наше воспроизведение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1615439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 и выводы — в отчёте. Здесь только графики. Запуск: RTX 3060 Laptop, 6 ГБ.</a:t>
            </a:r>
            <a:endParaRPr lang="en-US" sz="1700" dirty="0"/>
          </a:p>
        </p:txBody>
      </p:sp>
      <p:sp>
        <p:nvSpPr>
          <p:cNvPr id="5" name="TextBox 4"/>
          <p:cNvSpPr txBox="1"/>
          <p:nvPr/>
        </p:nvSpPr>
        <p:spPr>
          <a:xfrm>
            <a:off x="812800" y="2529839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F2A33"/>
                </a:solidFill>
                <a:latin typeface="Inter"/>
              </a:rPr>
              <a:t>Ньютон сходится за 3 итерации до точности float32.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2000" b="0">
                <a:solidFill>
                  <a:srgbClr val="1F2A33"/>
                </a:solidFill>
                <a:latin typeface="Inter"/>
              </a:rPr>
              <a:t>Обучение в режимах цикла и параллельном совпадает.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2000" b="0">
                <a:solidFill>
                  <a:srgbClr val="1F2A33"/>
                </a:solidFill>
                <a:latin typeface="Inter"/>
              </a:rPr>
              <a:t>Ускорение до 760× на длине 4096 (ParaGRU, fused).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2000" b="0">
                <a:solidFill>
                  <a:srgbClr val="1F2A33"/>
                </a:solidFill>
                <a:latin typeface="Inter"/>
              </a:rPr>
              <a:t>Чётность: линейная RNN 0,50, ParaGRU и ParaLSTM 1,00.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Ньютон сходится за три шага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681318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Ошибка падает в 10 раз за шаг и после третьей итерации упирается в точность float32. Длины 128, 512 и 2048 ведут себя одинаково.</a:t>
            </a:r>
            <a:endParaRPr lang="en-US" sz="1700" dirty="0"/>
          </a:p>
        </p:txBody>
      </p:sp>
      <p:pic>
        <p:nvPicPr>
          <p:cNvPr id="5" name="Picture 4" descr="new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15439"/>
            <a:ext cx="10883392" cy="37658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Обучение не отличается от цикла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587171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sz="1800" b="0">
                <a:solidFill>
                  <a:srgbClr val="1F2A33"/>
                </a:solidFill>
                <a:latin typeface="Inter"/>
              </a:rPr>
              <a:t>Сорок шагов обучения ParaGRU в режимах sequential и parallel_CUDA. Кривые совпадают, максимальная разница 1,2·10</a:t>
            </a:r>
            <a:r>
              <a:rPr sz="1800" b="0" baseline="30000">
                <a:solidFill>
                  <a:srgbClr val="1F2A33"/>
                </a:solidFill>
                <a:latin typeface="Inter"/>
              </a:rPr>
              <a:t>-7</a:t>
            </a:r>
            <a:r>
              <a:rPr sz="1800" b="0">
                <a:solidFill>
                  <a:srgbClr val="1F2A33"/>
                </a:solidFill>
                <a:latin typeface="Inter"/>
              </a:rPr>
              <a:t>.</a:t>
            </a:r>
            <a:endParaRPr lang="en-US" sz="1700" dirty="0"/>
          </a:p>
        </p:txBody>
      </p:sp>
      <p:pic>
        <p:nvPicPr>
          <p:cNvPr id="5" name="Picture 4" descr="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15439"/>
            <a:ext cx="10883392" cy="36717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длиннее строка, тем больше выигрыш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815438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прямого и обратного прохода. Цикл растёт почти линейно, параллельные режимы почти плоские. Логарифмическая шкала.</a:t>
            </a:r>
            <a:endParaRPr lang="en-US" sz="1700" dirty="0"/>
          </a:p>
        </p:txBody>
      </p:sp>
      <p:pic>
        <p:nvPicPr>
          <p:cNvPr id="5" name="Picture 4" descr="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15439"/>
            <a:ext cx="10734285" cy="38999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именно мы выигрываем</a:t>
            </a:r>
            <a:endParaRPr lang="en-US" sz="3200" dirty="0"/>
          </a:p>
        </p:txBody>
      </p:sp>
      <p:pic>
        <p:nvPicPr>
          <p:cNvPr id="3" name="Picture 2" descr="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15439"/>
            <a:ext cx="7582417" cy="4500000"/>
          </a:xfrm>
          <a:prstGeom prst="rect">
            <a:avLst/>
          </a:prstGeom>
        </p:spPr>
      </p:pic>
      <p:sp>
        <p:nvSpPr>
          <p:cNvPr id="7" name="Shape 5"/>
          <p:cNvSpPr/>
          <p:nvPr/>
        </p:nvSpPr>
        <p:spPr>
          <a:xfrm>
            <a:off x="8795217" y="2315439"/>
            <a:ext cx="2900975" cy="2308860"/>
          </a:xfrm>
          <a:prstGeom prst="roundRect">
            <a:avLst>
              <a:gd name="adj" fmla="val 5501"/>
            </a:avLst>
          </a:prstGeom>
          <a:solidFill>
            <a:srgbClr val="ECE7DD"/>
          </a:solidFill>
          <a:ln/>
        </p:spPr>
      </p:sp>
      <p:sp>
        <p:nvSpPr>
          <p:cNvPr id="8" name="Text 6"/>
          <p:cNvSpPr/>
          <p:nvPr/>
        </p:nvSpPr>
        <p:spPr>
          <a:xfrm>
            <a:off x="9074617" y="2594839"/>
            <a:ext cx="234217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262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28×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9074617" y="3407639"/>
            <a:ext cx="2342175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ядро редукции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074617" y="3811497"/>
            <a:ext cx="23421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CUDA против PyTorch, длина 4096. Только решение линейной рекуррентности.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Обучение: линейная RNN стоит на месте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770758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Линейная RNN остаётся на 0,50, как случайное угадывание. ParaGRU и ParaLSTM срываются вверх за 225–250 шагов.</a:t>
            </a:r>
            <a:endParaRPr lang="en-US" sz="1700" dirty="0"/>
          </a:p>
        </p:txBody>
      </p:sp>
      <p:pic>
        <p:nvPicPr>
          <p:cNvPr id="5" name="Picture 4" descr="parity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15439"/>
            <a:ext cx="10883392" cy="385531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строка глазами моделей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815438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Серая линия — правильный ответ, точки — предсказания. Оранжевые точки — ошибки: линейная ошибается в 27 из 50 позиций.</a:t>
            </a:r>
            <a:endParaRPr lang="en-US" sz="1700" dirty="0"/>
          </a:p>
        </p:txBody>
      </p:sp>
      <p:pic>
        <p:nvPicPr>
          <p:cNvPr id="5" name="Picture 4" descr="parity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15439"/>
            <a:ext cx="10018666" cy="389999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Точность по позиции в строке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12800" y="5587171"/>
            <a:ext cx="1088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Нелинейные ячейки верны на любой позиции, кроме первых двух. Линейная RNN держится около 0,5 везде.</a:t>
            </a:r>
            <a:endParaRPr lang="en-US" sz="1700" dirty="0"/>
          </a:p>
        </p:txBody>
      </p:sp>
      <p:pic>
        <p:nvPicPr>
          <p:cNvPr id="5" name="Picture 4" descr="parity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615439"/>
            <a:ext cx="10883392" cy="3671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aRNN: как посчитать нелинейную RNN параллельно">
  <a:themeElements>
    <a:clrScheme name="ParaRNN: как посчитать нелинейную RNN параллельно">
      <a:dk1>
        <a:srgbClr val="1F2A33"/>
      </a:dk1>
      <a:lt1>
        <a:srgbClr val="F7F5F0"/>
      </a:lt1>
      <a:dk2>
        <a:srgbClr val="555D62"/>
      </a:dk2>
      <a:lt2>
        <a:srgbClr val="E1E1DD"/>
      </a:lt2>
      <a:accent1>
        <a:srgbClr val="D2622A"/>
      </a:accent1>
      <a:accent2>
        <a:srgbClr val="5C6570"/>
      </a:accent2>
      <a:accent3>
        <a:srgbClr val="A9B1BA"/>
      </a:accent3>
      <a:accent4>
        <a:srgbClr val="9AA0A6"/>
      </a:accent4>
      <a:accent5>
        <a:srgbClr val="757B7F"/>
      </a:accent5>
      <a:accent6>
        <a:srgbClr val="969A9B"/>
      </a:accent6>
      <a:hlink>
        <a:srgbClr val="0563C1"/>
      </a:hlink>
      <a:folHlink>
        <a:srgbClr val="954F72"/>
      </a:folHlink>
    </a:clrScheme>
    <a:fontScheme name="ParaRNN: как посчитать нелинейную RNN параллельно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ParaRNN: как посчитать нелинейную RNN параллельно</dc:title>
  <dc:subject/>
  <dc:creator/>
  <cp:lastModifiedBy/>
  <cp:revision>1</cp:revision>
  <dcterms:created xsi:type="dcterms:W3CDTF">2026-10-05T14:23:36Z</dcterms:created>
  <dcterms:modified xsi:type="dcterms:W3CDTF">2026-10-05T14:23:36Z</dcterms:modified>
</cp:coreProperties>
</file>